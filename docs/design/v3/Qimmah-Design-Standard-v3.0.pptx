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Qimmah Design Standard v3.0 — the single source of truth for the Arabic-first fitness app. Momentum visual identity, 80 screens, honest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v3.0 replaces v2.1: seven dynamic Today contexts, suggest-don't-change rule, offline-first live workout, honest data labelling, full light/dark and accessibility.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core rule: the app may act automatically only when reversible and confirmable; anything that changes the user's plan, saves, or spends a permission must be confirmed.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Five-tab bottom navigation: Today, Workouts, Log (elevated center), Nutrition, Progress. Profile and settings live in the header, not a sixth tab.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Momentum v3 semantic palette: warm sand surfaces, graphite focus, ember primary, plus green, blue, teal, amber, red — each with a defined purpose.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Readex Pro and IBM Plex Sans Arabic for text, JetBrains Mono for numerals and labels. Eight-step scale from display to caption.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02–14. Bilingual welcome, permission-when-needed, and a plan build that shows its reasoning before revealing the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15–21. Today adapts to seven contexts. Metric cards always show their source; unavailable data shows a connect action, never a fake number.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22–36, the core loop on a dark focus surface. Offline-first live logging, focus mode, rest timer, voice — every gesture has a visible button twin.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37–47. Recovery is self-reported and labelled as such; nutrition estimates always carry an estimate tag and a source.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48–62. Progress charts draw from real workout history; the AI coach streams, discloses it is not a doctor, and never invents data.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Screens 63–80. Profile and settings, plus the reusable system states: offline, error, empty, permission-denied, update-required — never a dead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motion is tied to feedback, state change, or spatial continuity — never decoration. Each has a reduced-motion fallback and a haptic where it matters.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Fourteen reusable components, each with its full set of states — nav, buttons, metric cards, set-log rows, rest ring, source chips, bottom sheets, state blocks, AI bubbles, achievements.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metric maps to a source and a trust treatment: green for real sources, amber for estimates, blue for manual, teal for self-report, red for unavailable.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Accessibility is baked in: VoiceOver, Dynamic Type, 44pt targets, reduced motion, high contrast, voice/button equivalence. Authored at 393, scaling 320 → 1280.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v3.0 is implementation-ready. Next: owner review per area, then dev handoff with token export and the acceptance checklist.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0512A">
                  <a:alpha val="32000"/>
                </a:srgbClr>
              </a:gs>
              <a:gs pos="52000">
                <a:srgbClr val="F0512A">
                  <a:alpha val="0"/>
                </a:srgbClr>
              </a:gs>
            </a:gsLst>
            <a:path path="circle">
              <a:fillToRect l="84000" t="4000" r="16000" b="96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238215" y="2648882"/>
            <a:ext cx="723971" cy="723971"/>
          </a:xfrm>
          <a:prstGeom prst="roundRect">
            <a:avLst>
              <a:gd name="adj" fmla="val 28947"/>
            </a:avLst>
          </a:prstGeom>
          <a:gradFill rotWithShape="1">
            <a:gsLst>
              <a:gs pos="0">
                <a:srgbClr val="FF6A3D">
                  <a:alpha val="92000"/>
                </a:srgbClr>
              </a:gs>
              <a:gs pos="100000">
                <a:srgbClr val="E0431C">
                  <a:alpha val="92000"/>
                </a:srgbClr>
              </a:gs>
            </a:gsLst>
            <a:lin ang="3600000" scaled="0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alphaModFix amt="92000"/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0629" y="2801297"/>
            <a:ext cx="419141" cy="41914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171700" y="2891805"/>
            <a:ext cx="538690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spc="314" kern="0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QIMMAH · PRINCIPAL PRODUCT DESIGN</a:t>
            </a:r>
            <a:endParaRPr lang="en-US" sz="1425" dirty="0"/>
          </a:p>
        </p:txBody>
      </p:sp>
      <p:sp>
        <p:nvSpPr>
          <p:cNvPr id="6" name="Text 3"/>
          <p:cNvSpPr/>
          <p:nvPr/>
        </p:nvSpPr>
        <p:spPr>
          <a:xfrm>
            <a:off x="1238250" y="3791917"/>
            <a:ext cx="17392650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990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قِمّة</a:t>
            </a:r>
            <a:endParaRPr lang="en-US" sz="9900" dirty="0"/>
          </a:p>
        </p:txBody>
      </p:sp>
      <p:sp>
        <p:nvSpPr>
          <p:cNvPr id="7" name="Text 4"/>
          <p:cNvSpPr/>
          <p:nvPr/>
        </p:nvSpPr>
        <p:spPr>
          <a:xfrm>
            <a:off x="1238250" y="5113958"/>
            <a:ext cx="17392650" cy="800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80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Design Standard </a:t>
            </a:r>
            <a:pPr algn="l" indent="0" marL="0">
              <a:buNone/>
            </a:pPr>
            <a:r>
              <a:rPr lang="en-US" sz="4800" b="1" dirty="0">
                <a:solidFill>
                  <a:srgbClr val="F0895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v3.0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1238250" y="6123608"/>
            <a:ext cx="173926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C9C1B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درّب بوضوح. تقدّم بثقة. — نظام تصميم كامل لتطبيق لياقة عربيّ أولًا.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238250" y="7180883"/>
            <a:ext cx="2030589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F67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CANVAS</a:t>
            </a:r>
            <a:endParaRPr lang="en-US" sz="975" dirty="0"/>
          </a:p>
        </p:txBody>
      </p:sp>
      <p:sp>
        <p:nvSpPr>
          <p:cNvPr id="10" name="Text 7"/>
          <p:cNvSpPr/>
          <p:nvPr/>
        </p:nvSpPr>
        <p:spPr>
          <a:xfrm>
            <a:off x="1238250" y="7423770"/>
            <a:ext cx="192219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iPhone 393 × 852 pt</a:t>
            </a:r>
            <a:endParaRPr lang="en-US" sz="1275" dirty="0"/>
          </a:p>
        </p:txBody>
      </p:sp>
      <p:sp>
        <p:nvSpPr>
          <p:cNvPr id="11" name="Text 8"/>
          <p:cNvSpPr/>
          <p:nvPr/>
        </p:nvSpPr>
        <p:spPr>
          <a:xfrm>
            <a:off x="3579540" y="7180883"/>
            <a:ext cx="256494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F67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LANGUAGE</a:t>
            </a:r>
            <a:endParaRPr lang="en-US" sz="975" dirty="0"/>
          </a:p>
        </p:txBody>
      </p:sp>
      <p:sp>
        <p:nvSpPr>
          <p:cNvPr id="12" name="Text 9"/>
          <p:cNvSpPr/>
          <p:nvPr/>
        </p:nvSpPr>
        <p:spPr>
          <a:xfrm>
            <a:off x="3579540" y="7423770"/>
            <a:ext cx="240796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Arabic-first · RTL / LTR</a:t>
            </a:r>
            <a:endParaRPr lang="en-US" sz="1275" dirty="0"/>
          </a:p>
        </p:txBody>
      </p:sp>
      <p:sp>
        <p:nvSpPr>
          <p:cNvPr id="13" name="Text 10"/>
          <p:cNvSpPr/>
          <p:nvPr/>
        </p:nvSpPr>
        <p:spPr>
          <a:xfrm>
            <a:off x="6406604" y="7180883"/>
            <a:ext cx="2244313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95" kern="0" dirty="0">
                <a:solidFill>
                  <a:srgbClr val="6F675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SCOPE</a:t>
            </a:r>
            <a:endParaRPr lang="en-US" sz="975" dirty="0"/>
          </a:p>
        </p:txBody>
      </p:sp>
      <p:sp>
        <p:nvSpPr>
          <p:cNvPr id="14" name="Text 11"/>
          <p:cNvSpPr/>
          <p:nvPr/>
        </p:nvSpPr>
        <p:spPr>
          <a:xfrm>
            <a:off x="6406604" y="7423770"/>
            <a:ext cx="211648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80 screens · 12 areas</a:t>
            </a:r>
            <a:endParaRPr lang="en-US" sz="127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173926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D843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WHAT CHANGED · V2.1 → V3.0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38250" y="1252538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A251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 الجديد في الإصدار الثالث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38250" y="2547938"/>
            <a:ext cx="7781925" cy="3288506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2881313"/>
            <a:ext cx="782669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140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Today كسبع سياقات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71625" y="3352800"/>
            <a:ext cx="732863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650" dirty="0">
                <a:solidFill>
                  <a:srgbClr val="59524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شاشة اليوم تتكيّف: صباح، وقت التمرين، بعد التمرين، يوم راحة، مستخدم جديد، عودة بعد انقطاع، وحالة فارغة.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9267825" y="2547938"/>
            <a:ext cx="7781925" cy="3288506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0" y="2881313"/>
            <a:ext cx="782669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140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اقترح، لا تُغيّر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601200" y="3352800"/>
            <a:ext cx="7826692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650" dirty="0">
                <a:solidFill>
                  <a:srgbClr val="59524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تطوّر الخطة، التخفيف، والاستبدال كلها تتطلّب تأكيدًا — لا تغييرات صامتة.</a:t>
            </a:r>
            <a:endParaRPr lang="en-US" sz="1650" dirty="0"/>
          </a:p>
        </p:txBody>
      </p:sp>
      <p:sp>
        <p:nvSpPr>
          <p:cNvPr id="10" name="Shape 8"/>
          <p:cNvSpPr/>
          <p:nvPr/>
        </p:nvSpPr>
        <p:spPr>
          <a:xfrm>
            <a:off x="1238250" y="6084094"/>
            <a:ext cx="7781925" cy="3288506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571625" y="6417469"/>
            <a:ext cx="782669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140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تمرين مباشر offline-first</a:t>
            </a:r>
            <a:endParaRPr lang="en-US" sz="2250" dirty="0"/>
          </a:p>
        </p:txBody>
      </p:sp>
      <p:sp>
        <p:nvSpPr>
          <p:cNvPr id="12" name="Text 10"/>
          <p:cNvSpPr/>
          <p:nvPr/>
        </p:nvSpPr>
        <p:spPr>
          <a:xfrm>
            <a:off x="1571625" y="6888956"/>
            <a:ext cx="7826692" cy="3733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650" dirty="0">
                <a:solidFill>
                  <a:srgbClr val="59524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التسجيل لا ينتظر الشبكة، وضع تركيز بيد واحدة، وأوامر صوتية لها مقابل مرئيّ.</a:t>
            </a:r>
            <a:endParaRPr lang="en-US" sz="1650" dirty="0"/>
          </a:p>
        </p:txBody>
      </p:sp>
      <p:sp>
        <p:nvSpPr>
          <p:cNvPr id="13" name="Shape 11"/>
          <p:cNvSpPr/>
          <p:nvPr/>
        </p:nvSpPr>
        <p:spPr>
          <a:xfrm>
            <a:off x="9267825" y="6084094"/>
            <a:ext cx="7781925" cy="3288506"/>
          </a:xfrm>
          <a:prstGeom prst="roundRect">
            <a:avLst>
              <a:gd name="adj" fmla="val 63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0" y="6417469"/>
            <a:ext cx="7826692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6140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بيانات صادقة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9601200" y="6888956"/>
            <a:ext cx="7328630" cy="7085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650" dirty="0">
                <a:solidFill>
                  <a:srgbClr val="59524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رقم له مصدر، كل تقدير مُعلَّم «تقدير»، ولا معدّل قلب مُختلَق. أوضاع فاتح/داكن كاملة وإمكانية وصول.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173926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F089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CORE PRODUCT RULE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38250" y="1252538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اقترح، لا تُغيّر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38250" y="2547938"/>
            <a:ext cx="7781925" cy="6824663"/>
          </a:xfrm>
          <a:prstGeom prst="roundRect">
            <a:avLst>
              <a:gd name="adj" fmla="val 3070"/>
            </a:avLst>
          </a:prstGeom>
          <a:solidFill>
            <a:srgbClr val="1E1C17"/>
          </a:solidFill>
          <a:ln w="9525">
            <a:solidFill>
              <a:srgbClr val="373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71625" y="2881313"/>
            <a:ext cx="782669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3FBE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MAY RUN AUTOMATICALLY — REVERSIBLE &amp; CONFIRMABLE</a:t>
            </a:r>
            <a:endParaRPr lang="en-US" sz="1125" dirty="0"/>
          </a:p>
        </p:txBody>
      </p:sp>
      <p:sp>
        <p:nvSpPr>
          <p:cNvPr id="6" name="Text 4"/>
          <p:cNvSpPr/>
          <p:nvPr/>
        </p:nvSpPr>
        <p:spPr>
          <a:xfrm>
            <a:off x="8519368" y="3281363"/>
            <a:ext cx="24363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FBE7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725" dirty="0"/>
          </a:p>
        </p:txBody>
      </p:sp>
      <p:sp>
        <p:nvSpPr>
          <p:cNvPr id="7" name="Text 5"/>
          <p:cNvSpPr/>
          <p:nvPr/>
        </p:nvSpPr>
        <p:spPr>
          <a:xfrm>
            <a:off x="5923806" y="3281363"/>
            <a:ext cx="2729389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4DED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حفظ التقدّم محليًا أثناء التمرين</a:t>
            </a:r>
            <a:endParaRPr lang="en-US" sz="1725" dirty="0"/>
          </a:p>
        </p:txBody>
      </p:sp>
      <p:sp>
        <p:nvSpPr>
          <p:cNvPr id="8" name="Text 6"/>
          <p:cNvSpPr/>
          <p:nvPr/>
        </p:nvSpPr>
        <p:spPr>
          <a:xfrm>
            <a:off x="8519368" y="3762375"/>
            <a:ext cx="24363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FBE7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725" dirty="0"/>
          </a:p>
        </p:txBody>
      </p:sp>
      <p:sp>
        <p:nvSpPr>
          <p:cNvPr id="9" name="Text 7"/>
          <p:cNvSpPr/>
          <p:nvPr/>
        </p:nvSpPr>
        <p:spPr>
          <a:xfrm>
            <a:off x="5766048" y="3762375"/>
            <a:ext cx="290292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4DED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ترتيب شاشة اليوم حسب السياق</a:t>
            </a:r>
            <a:endParaRPr lang="en-US" sz="1725" dirty="0"/>
          </a:p>
        </p:txBody>
      </p:sp>
      <p:sp>
        <p:nvSpPr>
          <p:cNvPr id="10" name="Text 8"/>
          <p:cNvSpPr/>
          <p:nvPr/>
        </p:nvSpPr>
        <p:spPr>
          <a:xfrm>
            <a:off x="8519368" y="4243388"/>
            <a:ext cx="24363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FBE7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725" dirty="0"/>
          </a:p>
        </p:txBody>
      </p:sp>
      <p:sp>
        <p:nvSpPr>
          <p:cNvPr id="11" name="Text 9"/>
          <p:cNvSpPr/>
          <p:nvPr/>
        </p:nvSpPr>
        <p:spPr>
          <a:xfrm>
            <a:off x="5791274" y="4243388"/>
            <a:ext cx="287517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4DED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مزامنة البيانات عند عودة الاتصال</a:t>
            </a:r>
            <a:endParaRPr lang="en-US" sz="1725" dirty="0"/>
          </a:p>
        </p:txBody>
      </p:sp>
      <p:sp>
        <p:nvSpPr>
          <p:cNvPr id="12" name="Text 10"/>
          <p:cNvSpPr/>
          <p:nvPr/>
        </p:nvSpPr>
        <p:spPr>
          <a:xfrm>
            <a:off x="8519368" y="4724400"/>
            <a:ext cx="24363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3FBE7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725" dirty="0"/>
          </a:p>
        </p:txBody>
      </p:sp>
      <p:sp>
        <p:nvSpPr>
          <p:cNvPr id="13" name="Text 11"/>
          <p:cNvSpPr/>
          <p:nvPr/>
        </p:nvSpPr>
        <p:spPr>
          <a:xfrm>
            <a:off x="6687517" y="4724400"/>
            <a:ext cx="1889306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4DED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اقتراح إحماء مخصّص</a:t>
            </a:r>
            <a:endParaRPr lang="en-US" sz="1725" dirty="0"/>
          </a:p>
        </p:txBody>
      </p:sp>
      <p:sp>
        <p:nvSpPr>
          <p:cNvPr id="14" name="Shape 12"/>
          <p:cNvSpPr/>
          <p:nvPr/>
        </p:nvSpPr>
        <p:spPr>
          <a:xfrm>
            <a:off x="9267825" y="2547938"/>
            <a:ext cx="7781925" cy="6824663"/>
          </a:xfrm>
          <a:prstGeom prst="roundRect">
            <a:avLst>
              <a:gd name="adj" fmla="val 3070"/>
            </a:avLst>
          </a:prstGeom>
          <a:solidFill>
            <a:srgbClr val="1E1C17"/>
          </a:solidFill>
          <a:ln w="9525">
            <a:solidFill>
              <a:srgbClr val="37332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601200" y="2881313"/>
            <a:ext cx="7826692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13" kern="0" dirty="0">
                <a:solidFill>
                  <a:srgbClr val="E7B23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ALWAYS NEEDS CONFIRMATION</a:t>
            </a:r>
            <a:endParaRPr lang="en-US" sz="1125" dirty="0"/>
          </a:p>
        </p:txBody>
      </p:sp>
      <p:sp>
        <p:nvSpPr>
          <p:cNvPr id="16" name="Text 14"/>
          <p:cNvSpPr/>
          <p:nvPr/>
        </p:nvSpPr>
        <p:spPr>
          <a:xfrm>
            <a:off x="16646203" y="3281363"/>
            <a:ext cx="14637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E7B23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!</a:t>
            </a:r>
            <a:endParaRPr lang="en-US" sz="1725" dirty="0"/>
          </a:p>
        </p:txBody>
      </p:sp>
      <p:sp>
        <p:nvSpPr>
          <p:cNvPr id="17" name="Text 15"/>
          <p:cNvSpPr/>
          <p:nvPr/>
        </p:nvSpPr>
        <p:spPr>
          <a:xfrm>
            <a:off x="14304764" y="3281363"/>
            <a:ext cx="244985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4DED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تعديل الخطة أو أيام التمرين</a:t>
            </a:r>
            <a:endParaRPr lang="en-US" sz="1725" dirty="0"/>
          </a:p>
        </p:txBody>
      </p:sp>
      <p:sp>
        <p:nvSpPr>
          <p:cNvPr id="18" name="Text 16"/>
          <p:cNvSpPr/>
          <p:nvPr/>
        </p:nvSpPr>
        <p:spPr>
          <a:xfrm>
            <a:off x="16646203" y="3762375"/>
            <a:ext cx="14637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E7B23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!</a:t>
            </a:r>
            <a:endParaRPr lang="en-US" sz="1725" dirty="0"/>
          </a:p>
        </p:txBody>
      </p:sp>
      <p:sp>
        <p:nvSpPr>
          <p:cNvPr id="19" name="Text 17"/>
          <p:cNvSpPr/>
          <p:nvPr/>
        </p:nvSpPr>
        <p:spPr>
          <a:xfrm>
            <a:off x="13870781" y="3762375"/>
            <a:ext cx="2927233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4DED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استبدال تمرين أو تفعيل التخفيف</a:t>
            </a:r>
            <a:endParaRPr lang="en-US" sz="1725" dirty="0"/>
          </a:p>
        </p:txBody>
      </p:sp>
      <p:sp>
        <p:nvSpPr>
          <p:cNvPr id="20" name="Text 18"/>
          <p:cNvSpPr/>
          <p:nvPr/>
        </p:nvSpPr>
        <p:spPr>
          <a:xfrm>
            <a:off x="16646203" y="4243388"/>
            <a:ext cx="14637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E7B23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!</a:t>
            </a:r>
            <a:endParaRPr lang="en-US" sz="1725" dirty="0"/>
          </a:p>
        </p:txBody>
      </p:sp>
      <p:sp>
        <p:nvSpPr>
          <p:cNvPr id="21" name="Text 19"/>
          <p:cNvSpPr/>
          <p:nvPr/>
        </p:nvSpPr>
        <p:spPr>
          <a:xfrm>
            <a:off x="14894496" y="4243388"/>
            <a:ext cx="1801148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4DED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إنهاء التمرين وحفظه</a:t>
            </a:r>
            <a:endParaRPr lang="en-US" sz="1725" dirty="0"/>
          </a:p>
        </p:txBody>
      </p:sp>
      <p:sp>
        <p:nvSpPr>
          <p:cNvPr id="22" name="Text 20"/>
          <p:cNvSpPr/>
          <p:nvPr/>
        </p:nvSpPr>
        <p:spPr>
          <a:xfrm>
            <a:off x="16646203" y="4724400"/>
            <a:ext cx="146372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b="1" dirty="0">
                <a:solidFill>
                  <a:srgbClr val="E7B23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!</a:t>
            </a:r>
            <a:endParaRPr lang="en-US" sz="1725" dirty="0"/>
          </a:p>
        </p:txBody>
      </p:sp>
      <p:sp>
        <p:nvSpPr>
          <p:cNvPr id="23" name="Text 21"/>
          <p:cNvSpPr/>
          <p:nvPr/>
        </p:nvSpPr>
        <p:spPr>
          <a:xfrm>
            <a:off x="13957771" y="4724400"/>
            <a:ext cx="2831544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725" dirty="0">
                <a:solidFill>
                  <a:srgbClr val="E4DED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منح إذن جديد أو حذف الحساب</a:t>
            </a:r>
            <a:endParaRPr lang="en-US" sz="17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173926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D843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INFORMATION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38250" y="1252538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A251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تنقّل من خمسة أقسام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1238250" y="2205038"/>
            <a:ext cx="90525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59524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الملف الشخصي والإعدادات في الترويسة — وليس تبويبًا سادسًا. زرّ التسجيل مرفوع في المنتصف.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238250" y="3157538"/>
            <a:ext cx="15811500" cy="6215063"/>
          </a:xfrm>
          <a:prstGeom prst="roundRect">
            <a:avLst>
              <a:gd name="adj" fmla="val 3985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661949" y="7548563"/>
            <a:ext cx="60960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F0512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🏠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1661949" y="8362950"/>
            <a:ext cx="609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F0512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اليوم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0222483" y="7548563"/>
            <a:ext cx="848916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9A938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🏋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10222483" y="8362950"/>
            <a:ext cx="848916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A938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التمارين</a:t>
            </a:r>
            <a:endParaRPr lang="en-US" sz="1950" dirty="0"/>
          </a:p>
        </p:txBody>
      </p:sp>
      <p:sp>
        <p:nvSpPr>
          <p:cNvPr id="10" name="Shape 8"/>
          <p:cNvSpPr/>
          <p:nvPr/>
        </p:nvSpPr>
        <p:spPr>
          <a:xfrm>
            <a:off x="8679433" y="7334250"/>
            <a:ext cx="914400" cy="914400"/>
          </a:xfrm>
          <a:prstGeom prst="roundRect">
            <a:avLst>
              <a:gd name="adj" fmla="val 29167"/>
            </a:avLst>
          </a:prstGeom>
          <a:gradFill rotWithShape="1">
            <a:gsLst>
              <a:gs pos="0">
                <a:srgbClr val="FF6A3D">
                  <a:alpha val="100000"/>
                </a:srgbClr>
              </a:gs>
              <a:gs pos="100000">
                <a:srgbClr val="E0431C">
                  <a:alpha val="100000"/>
                </a:srgbClr>
              </a:gs>
            </a:gsLst>
            <a:lin ang="3600000" scaled="0"/>
          </a:gradFill>
          <a:ln/>
          <a:effectLst>
            <a:outerShdw sx="100000" sy="100000" kx="0" ky="0" algn="bl" rotWithShape="0" blurRad="285750" dist="133350" dir="5400000">
              <a:srgbClr val="E0431C">
                <a:alpha val="3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641333" y="7334250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900" dirty="0">
                <a:solidFill>
                  <a:srgbClr val="FFFFFF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＋</a:t>
            </a:r>
            <a:endParaRPr lang="en-US" sz="3900" dirty="0"/>
          </a:p>
        </p:txBody>
      </p:sp>
      <p:sp>
        <p:nvSpPr>
          <p:cNvPr id="12" name="Text 10"/>
          <p:cNvSpPr/>
          <p:nvPr/>
        </p:nvSpPr>
        <p:spPr>
          <a:xfrm>
            <a:off x="8641333" y="8362950"/>
            <a:ext cx="9906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59524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تسجيل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7301210" y="7548563"/>
            <a:ext cx="749573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9A938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🍽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7301210" y="8362950"/>
            <a:ext cx="74957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A938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التغذية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6016526" y="7548563"/>
            <a:ext cx="694134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4200" dirty="0">
                <a:solidFill>
                  <a:srgbClr val="9A938A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📈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6016526" y="8362950"/>
            <a:ext cx="694134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950" b="1" dirty="0">
                <a:solidFill>
                  <a:srgbClr val="9A938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التقدّم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173926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F089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FOUNDATION · MOMENTUM V3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38250" y="1252538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نظام الألوان الدلالي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38250" y="2586038"/>
            <a:ext cx="3795713" cy="3288506"/>
          </a:xfrm>
          <a:prstGeom prst="roundRect">
            <a:avLst>
              <a:gd name="adj" fmla="val 5214"/>
            </a:avLst>
          </a:prstGeom>
          <a:ln w="9525">
            <a:solidFill>
              <a:srgbClr val="3733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47775" y="2595563"/>
            <a:ext cx="3776662" cy="2488406"/>
          </a:xfrm>
          <a:prstGeom prst="rect">
            <a:avLst/>
          </a:prstGeom>
          <a:solidFill>
            <a:srgbClr val="F0512A"/>
          </a:solidFill>
          <a:ln/>
        </p:spPr>
      </p:sp>
      <p:sp>
        <p:nvSpPr>
          <p:cNvPr id="6" name="Shape 4"/>
          <p:cNvSpPr/>
          <p:nvPr/>
        </p:nvSpPr>
        <p:spPr>
          <a:xfrm>
            <a:off x="1247775" y="5083969"/>
            <a:ext cx="3776662" cy="781050"/>
          </a:xfrm>
          <a:prstGeom prst="rect">
            <a:avLst/>
          </a:prstGeom>
          <a:solidFill>
            <a:srgbClr val="1E1C17"/>
          </a:solidFill>
          <a:ln/>
        </p:spPr>
      </p:sp>
      <p:sp>
        <p:nvSpPr>
          <p:cNvPr id="7" name="Text 5"/>
          <p:cNvSpPr/>
          <p:nvPr/>
        </p:nvSpPr>
        <p:spPr>
          <a:xfrm>
            <a:off x="1419225" y="5255419"/>
            <a:ext cx="37771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Ember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419225" y="5517356"/>
            <a:ext cx="377713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#F0512A · Primary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243513" y="2586038"/>
            <a:ext cx="3795713" cy="3288506"/>
          </a:xfrm>
          <a:prstGeom prst="roundRect">
            <a:avLst>
              <a:gd name="adj" fmla="val 5214"/>
            </a:avLst>
          </a:prstGeom>
          <a:ln w="9525">
            <a:solidFill>
              <a:srgbClr val="37332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253038" y="2595563"/>
            <a:ext cx="3776662" cy="2488406"/>
          </a:xfrm>
          <a:prstGeom prst="rect">
            <a:avLst/>
          </a:prstGeom>
          <a:solidFill>
            <a:srgbClr val="16140F"/>
          </a:solidFill>
          <a:ln/>
        </p:spPr>
      </p:sp>
      <p:sp>
        <p:nvSpPr>
          <p:cNvPr id="11" name="Shape 9"/>
          <p:cNvSpPr/>
          <p:nvPr/>
        </p:nvSpPr>
        <p:spPr>
          <a:xfrm>
            <a:off x="5253038" y="5083969"/>
            <a:ext cx="3776662" cy="781050"/>
          </a:xfrm>
          <a:prstGeom prst="rect">
            <a:avLst/>
          </a:prstGeom>
          <a:solidFill>
            <a:srgbClr val="1E1C17"/>
          </a:solidFill>
          <a:ln/>
        </p:spPr>
      </p:sp>
      <p:sp>
        <p:nvSpPr>
          <p:cNvPr id="12" name="Text 10"/>
          <p:cNvSpPr/>
          <p:nvPr/>
        </p:nvSpPr>
        <p:spPr>
          <a:xfrm>
            <a:off x="5424488" y="5255419"/>
            <a:ext cx="37771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Graphite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5424488" y="5517356"/>
            <a:ext cx="377713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#16140F · Focus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248775" y="2586038"/>
            <a:ext cx="3795713" cy="3288506"/>
          </a:xfrm>
          <a:prstGeom prst="roundRect">
            <a:avLst>
              <a:gd name="adj" fmla="val 5214"/>
            </a:avLst>
          </a:prstGeom>
          <a:ln w="9525">
            <a:solidFill>
              <a:srgbClr val="37332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258300" y="2595563"/>
            <a:ext cx="3776662" cy="2488406"/>
          </a:xfrm>
          <a:prstGeom prst="rect">
            <a:avLst/>
          </a:prstGeom>
          <a:solidFill>
            <a:srgbClr val="EFEAE2"/>
          </a:solidFill>
          <a:ln/>
        </p:spPr>
      </p:sp>
      <p:sp>
        <p:nvSpPr>
          <p:cNvPr id="16" name="Shape 14"/>
          <p:cNvSpPr/>
          <p:nvPr/>
        </p:nvSpPr>
        <p:spPr>
          <a:xfrm>
            <a:off x="9258300" y="5083969"/>
            <a:ext cx="3776662" cy="781050"/>
          </a:xfrm>
          <a:prstGeom prst="rect">
            <a:avLst/>
          </a:prstGeom>
          <a:solidFill>
            <a:srgbClr val="1E1C17"/>
          </a:solidFill>
          <a:ln/>
        </p:spPr>
      </p:sp>
      <p:sp>
        <p:nvSpPr>
          <p:cNvPr id="17" name="Text 15"/>
          <p:cNvSpPr/>
          <p:nvPr/>
        </p:nvSpPr>
        <p:spPr>
          <a:xfrm>
            <a:off x="9429750" y="5255419"/>
            <a:ext cx="37771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Sand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9429750" y="5517356"/>
            <a:ext cx="377713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#EFEAE2 · Surface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13254038" y="2586038"/>
            <a:ext cx="3795713" cy="3288506"/>
          </a:xfrm>
          <a:prstGeom prst="roundRect">
            <a:avLst>
              <a:gd name="adj" fmla="val 5214"/>
            </a:avLst>
          </a:prstGeom>
          <a:ln w="9525">
            <a:solidFill>
              <a:srgbClr val="37332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3263563" y="2595563"/>
            <a:ext cx="3776662" cy="2488406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21" name="Shape 19"/>
          <p:cNvSpPr/>
          <p:nvPr/>
        </p:nvSpPr>
        <p:spPr>
          <a:xfrm>
            <a:off x="13263563" y="5083969"/>
            <a:ext cx="3776662" cy="781050"/>
          </a:xfrm>
          <a:prstGeom prst="rect">
            <a:avLst/>
          </a:prstGeom>
          <a:solidFill>
            <a:srgbClr val="1E1C17"/>
          </a:solidFill>
          <a:ln/>
        </p:spPr>
      </p:sp>
      <p:sp>
        <p:nvSpPr>
          <p:cNvPr id="22" name="Text 20"/>
          <p:cNvSpPr/>
          <p:nvPr/>
        </p:nvSpPr>
        <p:spPr>
          <a:xfrm>
            <a:off x="13435013" y="5255419"/>
            <a:ext cx="37771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Green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3435013" y="5517356"/>
            <a:ext cx="377713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#1F9D57 · Success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1238250" y="6084094"/>
            <a:ext cx="3795713" cy="3288506"/>
          </a:xfrm>
          <a:prstGeom prst="roundRect">
            <a:avLst>
              <a:gd name="adj" fmla="val 5214"/>
            </a:avLst>
          </a:prstGeom>
          <a:ln w="9525">
            <a:solidFill>
              <a:srgbClr val="37332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247775" y="6093619"/>
            <a:ext cx="3776662" cy="2488406"/>
          </a:xfrm>
          <a:prstGeom prst="rect">
            <a:avLst/>
          </a:prstGeom>
          <a:solidFill>
            <a:srgbClr val="2A6CE0"/>
          </a:solidFill>
          <a:ln/>
        </p:spPr>
      </p:sp>
      <p:sp>
        <p:nvSpPr>
          <p:cNvPr id="26" name="Shape 24"/>
          <p:cNvSpPr/>
          <p:nvPr/>
        </p:nvSpPr>
        <p:spPr>
          <a:xfrm>
            <a:off x="1247775" y="8582025"/>
            <a:ext cx="3776662" cy="781050"/>
          </a:xfrm>
          <a:prstGeom prst="rect">
            <a:avLst/>
          </a:prstGeom>
          <a:solidFill>
            <a:srgbClr val="1E1C17"/>
          </a:solidFill>
          <a:ln/>
        </p:spPr>
      </p:sp>
      <p:sp>
        <p:nvSpPr>
          <p:cNvPr id="27" name="Text 25"/>
          <p:cNvSpPr/>
          <p:nvPr/>
        </p:nvSpPr>
        <p:spPr>
          <a:xfrm>
            <a:off x="1419225" y="8753475"/>
            <a:ext cx="37771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Blue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419225" y="9015413"/>
            <a:ext cx="377713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#2A6CE0 · Link/Voice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243513" y="6084094"/>
            <a:ext cx="3795713" cy="3288506"/>
          </a:xfrm>
          <a:prstGeom prst="roundRect">
            <a:avLst>
              <a:gd name="adj" fmla="val 5214"/>
            </a:avLst>
          </a:prstGeom>
          <a:ln w="9525">
            <a:solidFill>
              <a:srgbClr val="37332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253038" y="6093619"/>
            <a:ext cx="3776662" cy="2488406"/>
          </a:xfrm>
          <a:prstGeom prst="rect">
            <a:avLst/>
          </a:prstGeom>
          <a:solidFill>
            <a:srgbClr val="159AA0"/>
          </a:solidFill>
          <a:ln/>
        </p:spPr>
      </p:sp>
      <p:sp>
        <p:nvSpPr>
          <p:cNvPr id="31" name="Shape 29"/>
          <p:cNvSpPr/>
          <p:nvPr/>
        </p:nvSpPr>
        <p:spPr>
          <a:xfrm>
            <a:off x="5253038" y="8582025"/>
            <a:ext cx="3776662" cy="781050"/>
          </a:xfrm>
          <a:prstGeom prst="rect">
            <a:avLst/>
          </a:prstGeom>
          <a:solidFill>
            <a:srgbClr val="1E1C17"/>
          </a:solidFill>
          <a:ln/>
        </p:spPr>
      </p:sp>
      <p:sp>
        <p:nvSpPr>
          <p:cNvPr id="32" name="Text 30"/>
          <p:cNvSpPr/>
          <p:nvPr/>
        </p:nvSpPr>
        <p:spPr>
          <a:xfrm>
            <a:off x="5424488" y="8753475"/>
            <a:ext cx="37771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Teal</a:t>
            </a:r>
            <a:endParaRPr lang="en-US" sz="1650" dirty="0"/>
          </a:p>
        </p:txBody>
      </p:sp>
      <p:sp>
        <p:nvSpPr>
          <p:cNvPr id="33" name="Text 31"/>
          <p:cNvSpPr/>
          <p:nvPr/>
        </p:nvSpPr>
        <p:spPr>
          <a:xfrm>
            <a:off x="5424488" y="9015413"/>
            <a:ext cx="377713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#159AA0 · Rest/Recovery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9248775" y="6084094"/>
            <a:ext cx="3795713" cy="3288506"/>
          </a:xfrm>
          <a:prstGeom prst="roundRect">
            <a:avLst>
              <a:gd name="adj" fmla="val 5214"/>
            </a:avLst>
          </a:prstGeom>
          <a:ln w="9525">
            <a:solidFill>
              <a:srgbClr val="37332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258300" y="6093619"/>
            <a:ext cx="3776662" cy="2488406"/>
          </a:xfrm>
          <a:prstGeom prst="rect">
            <a:avLst/>
          </a:prstGeom>
          <a:solidFill>
            <a:srgbClr val="D99400"/>
          </a:solidFill>
          <a:ln/>
        </p:spPr>
      </p:sp>
      <p:sp>
        <p:nvSpPr>
          <p:cNvPr id="36" name="Shape 34"/>
          <p:cNvSpPr/>
          <p:nvPr/>
        </p:nvSpPr>
        <p:spPr>
          <a:xfrm>
            <a:off x="9258300" y="8582025"/>
            <a:ext cx="3776662" cy="781050"/>
          </a:xfrm>
          <a:prstGeom prst="rect">
            <a:avLst/>
          </a:prstGeom>
          <a:solidFill>
            <a:srgbClr val="1E1C17"/>
          </a:solidFill>
          <a:ln/>
        </p:spPr>
      </p:sp>
      <p:sp>
        <p:nvSpPr>
          <p:cNvPr id="37" name="Text 35"/>
          <p:cNvSpPr/>
          <p:nvPr/>
        </p:nvSpPr>
        <p:spPr>
          <a:xfrm>
            <a:off x="9429750" y="8753475"/>
            <a:ext cx="37771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Amber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9429750" y="9015413"/>
            <a:ext cx="377713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#D99400 · Estimate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13254038" y="6084094"/>
            <a:ext cx="3795713" cy="3288506"/>
          </a:xfrm>
          <a:prstGeom prst="roundRect">
            <a:avLst>
              <a:gd name="adj" fmla="val 5214"/>
            </a:avLst>
          </a:prstGeom>
          <a:ln w="9525">
            <a:solidFill>
              <a:srgbClr val="37332D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3263563" y="6093619"/>
            <a:ext cx="3776662" cy="2488406"/>
          </a:xfrm>
          <a:prstGeom prst="rect">
            <a:avLst/>
          </a:prstGeom>
          <a:solidFill>
            <a:srgbClr val="D23B2E"/>
          </a:solidFill>
          <a:ln/>
        </p:spPr>
      </p:sp>
      <p:sp>
        <p:nvSpPr>
          <p:cNvPr id="41" name="Shape 39"/>
          <p:cNvSpPr/>
          <p:nvPr/>
        </p:nvSpPr>
        <p:spPr>
          <a:xfrm>
            <a:off x="13263563" y="8582025"/>
            <a:ext cx="3776662" cy="781050"/>
          </a:xfrm>
          <a:prstGeom prst="rect">
            <a:avLst/>
          </a:prstGeom>
          <a:solidFill>
            <a:srgbClr val="1E1C17"/>
          </a:solidFill>
          <a:ln/>
        </p:spPr>
      </p:sp>
      <p:sp>
        <p:nvSpPr>
          <p:cNvPr id="42" name="Text 40"/>
          <p:cNvSpPr/>
          <p:nvPr/>
        </p:nvSpPr>
        <p:spPr>
          <a:xfrm>
            <a:off x="13435013" y="8753475"/>
            <a:ext cx="3777139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Red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13435013" y="9015413"/>
            <a:ext cx="377713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#D23B2E · Pain/Danger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173926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D843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FOUNDATION · TYPOGRAPHY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38250" y="1252538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A251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نظام الخطوط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38250" y="2547938"/>
            <a:ext cx="9001125" cy="6824663"/>
          </a:xfrm>
          <a:prstGeom prst="roundRect">
            <a:avLst>
              <a:gd name="adj" fmla="val 307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66875" y="2976563"/>
            <a:ext cx="8958263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6667"/>
              </a:lnSpc>
              <a:buNone/>
            </a:pPr>
            <a:r>
              <a:rPr lang="en-US" sz="6600" b="1" dirty="0">
                <a:solidFill>
                  <a:srgbClr val="2A251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قِمّة</a:t>
            </a:r>
            <a:endParaRPr lang="en-US" sz="6600" dirty="0"/>
          </a:p>
        </p:txBody>
      </p:sp>
      <p:sp>
        <p:nvSpPr>
          <p:cNvPr id="6" name="Text 4"/>
          <p:cNvSpPr/>
          <p:nvPr/>
        </p:nvSpPr>
        <p:spPr>
          <a:xfrm>
            <a:off x="1666875" y="5027935"/>
            <a:ext cx="8958263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3A342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درّب بوضوح. تقدّم بثقة.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666875" y="6812607"/>
            <a:ext cx="8958263" cy="4038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1800" dirty="0">
                <a:solidFill>
                  <a:srgbClr val="59524A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تمرينك وتغذيتك وتقدّمك في مكان واحد — بالعربية وبخطوات واضحة.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66875" y="8391525"/>
            <a:ext cx="8958263" cy="590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300" b="1" dirty="0">
                <a:solidFill>
                  <a:srgbClr val="F0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 kg × 8 · 47:12</a:t>
            </a:r>
            <a:endParaRPr lang="en-US" sz="3300" dirty="0"/>
          </a:p>
        </p:txBody>
      </p:sp>
      <p:sp>
        <p:nvSpPr>
          <p:cNvPr id="9" name="Shape 7"/>
          <p:cNvSpPr/>
          <p:nvPr/>
        </p:nvSpPr>
        <p:spPr>
          <a:xfrm>
            <a:off x="10620375" y="2547938"/>
            <a:ext cx="6429375" cy="957263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877550" y="2805113"/>
            <a:ext cx="65065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51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IBM Plex Sans Arabic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0877550" y="3043238"/>
            <a:ext cx="650652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Arabic UI · 300–700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0620375" y="3676650"/>
            <a:ext cx="6429375" cy="957263"/>
          </a:xfrm>
          <a:prstGeom prst="roundRect">
            <a:avLst>
              <a:gd name="adj" fmla="val 17910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877550" y="3933825"/>
            <a:ext cx="6506528" cy="2762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51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Readex Pro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877550" y="4171950"/>
            <a:ext cx="650652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Latin UI · pairs with Plex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0620375" y="4805363"/>
            <a:ext cx="6429375" cy="971550"/>
          </a:xfrm>
          <a:prstGeom prst="roundRect">
            <a:avLst>
              <a:gd name="adj" fmla="val 17647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877550" y="5062538"/>
            <a:ext cx="6506528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A251E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JetBrains Mono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0877550" y="5314950"/>
            <a:ext cx="6506528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Numerals · labels · data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620375" y="5948363"/>
            <a:ext cx="6429375" cy="739080"/>
          </a:xfrm>
          <a:prstGeom prst="roundRect">
            <a:avLst>
              <a:gd name="adj" fmla="val 23198"/>
            </a:avLst>
          </a:prstGeom>
          <a:solidFill>
            <a:srgbClr val="16140F"/>
          </a:solidFill>
          <a:ln/>
        </p:spPr>
      </p:sp>
      <p:sp>
        <p:nvSpPr>
          <p:cNvPr id="19" name="Text 17"/>
          <p:cNvSpPr/>
          <p:nvPr/>
        </p:nvSpPr>
        <p:spPr>
          <a:xfrm>
            <a:off x="10868025" y="6196013"/>
            <a:ext cx="6527483" cy="2818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200" dirty="0">
                <a:solidFill>
                  <a:srgbClr val="A79F94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8-step scale · Display 88 → Caption 12. Min slide text never below 24px on device.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62000"/>
            <a:ext cx="139563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089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AREA · 02–14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857250" y="1028700"/>
            <a:ext cx="182308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الأساس · المصادقة والإعداد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6101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86300" y="2714625"/>
            <a:ext cx="2590800" cy="5791200"/>
          </a:xfrm>
          <a:prstGeom prst="roundRect">
            <a:avLst>
              <a:gd name="adj" fmla="val 11397"/>
            </a:avLst>
          </a:prstGeom>
          <a:gradFill rotWithShape="1">
            <a:gsLst>
              <a:gs pos="0">
                <a:srgbClr val="241C16">
                  <a:alpha val="100000"/>
                </a:srgbClr>
              </a:gs>
              <a:gs pos="100000">
                <a:srgbClr val="141311">
                  <a:alpha val="100000"/>
                </a:srgbClr>
              </a:gs>
            </a:gsLst>
            <a:lin ang="5280000" scaled="0"/>
          </a:gradFill>
          <a:ln/>
        </p:spPr>
      </p:sp>
      <p:sp>
        <p:nvSpPr>
          <p:cNvPr id="6" name="Shape 4"/>
          <p:cNvSpPr/>
          <p:nvPr/>
        </p:nvSpPr>
        <p:spPr>
          <a:xfrm>
            <a:off x="55435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4686300" y="2714625"/>
            <a:ext cx="2590800" cy="5791200"/>
          </a:xfrm>
          <a:prstGeom prst="rect">
            <a:avLst/>
          </a:prstGeom>
          <a:gradFill rotWithShape="1">
            <a:gsLst>
              <a:gs pos="0">
                <a:srgbClr val="F0512A">
                  <a:alpha val="22000"/>
                </a:srgbClr>
              </a:gs>
              <a:gs pos="55000">
                <a:srgbClr val="F0512A">
                  <a:alpha val="0"/>
                </a:srgbClr>
              </a:gs>
            </a:gsLst>
            <a:path path="circle">
              <a:fillToRect l="50000" t="6000" r="50000" b="94000"/>
            </a:path>
          </a:gradFill>
          <a:ln/>
        </p:spPr>
      </p:sp>
      <p:sp>
        <p:nvSpPr>
          <p:cNvPr id="8" name="Shape 6"/>
          <p:cNvSpPr/>
          <p:nvPr/>
        </p:nvSpPr>
        <p:spPr>
          <a:xfrm>
            <a:off x="6534150" y="5702647"/>
            <a:ext cx="495300" cy="495300"/>
          </a:xfrm>
          <a:prstGeom prst="roundRect">
            <a:avLst>
              <a:gd name="adj" fmla="val 28846"/>
            </a:avLst>
          </a:prstGeom>
          <a:gradFill rotWithShape="1">
            <a:gsLst>
              <a:gs pos="0">
                <a:srgbClr val="FF6A3D">
                  <a:alpha val="100000"/>
                </a:srgbClr>
              </a:gs>
              <a:gs pos="100000">
                <a:srgbClr val="E0431C">
                  <a:alpha val="100000"/>
                </a:srgbClr>
              </a:gs>
            </a:gsLst>
            <a:lin ang="3600000" scaled="0"/>
          </a:gra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38925" y="5807422"/>
            <a:ext cx="285750" cy="28575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933950" y="6369397"/>
            <a:ext cx="2305050" cy="4905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3333"/>
              </a:lnSpc>
              <a:buNone/>
            </a:pPr>
            <a:r>
              <a:rPr lang="en-US" sz="375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قِمّة</a:t>
            </a:r>
            <a:endParaRPr lang="en-US" sz="3750" dirty="0"/>
          </a:p>
        </p:txBody>
      </p:sp>
      <p:sp>
        <p:nvSpPr>
          <p:cNvPr id="11" name="Text 8"/>
          <p:cNvSpPr/>
          <p:nvPr/>
        </p:nvSpPr>
        <p:spPr>
          <a:xfrm>
            <a:off x="4933950" y="6936135"/>
            <a:ext cx="2171700" cy="59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3333"/>
              </a:lnSpc>
              <a:buNone/>
            </a:pPr>
            <a:r>
              <a:rPr lang="en-US" sz="1575" b="1" dirty="0">
                <a:solidFill>
                  <a:srgbClr val="F0895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درّب بوضوح. تقدّم بثقة.</a:t>
            </a:r>
            <a:endParaRPr lang="en-US" sz="1575" dirty="0"/>
          </a:p>
        </p:txBody>
      </p:sp>
      <p:sp>
        <p:nvSpPr>
          <p:cNvPr id="12" name="Shape 9"/>
          <p:cNvSpPr/>
          <p:nvPr/>
        </p:nvSpPr>
        <p:spPr>
          <a:xfrm>
            <a:off x="4933950" y="7705725"/>
            <a:ext cx="2095500" cy="514350"/>
          </a:xfrm>
          <a:prstGeom prst="roundRect">
            <a:avLst>
              <a:gd name="adj" fmla="val 25926"/>
            </a:avLst>
          </a:prstGeom>
          <a:solidFill>
            <a:srgbClr val="F0512A"/>
          </a:solidFill>
          <a:ln/>
        </p:spPr>
      </p:sp>
      <p:sp>
        <p:nvSpPr>
          <p:cNvPr id="13" name="Text 10"/>
          <p:cNvSpPr/>
          <p:nvPr/>
        </p:nvSpPr>
        <p:spPr>
          <a:xfrm>
            <a:off x="5038725" y="7848600"/>
            <a:ext cx="1885950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ابدأ الآن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5467276" y="8734425"/>
            <a:ext cx="11050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02 · الترحيب</a:t>
            </a:r>
            <a:endParaRPr lang="en-US" sz="1125" dirty="0"/>
          </a:p>
        </p:txBody>
      </p:sp>
      <p:sp>
        <p:nvSpPr>
          <p:cNvPr id="15" name="Shape 12"/>
          <p:cNvSpPr/>
          <p:nvPr/>
        </p:nvSpPr>
        <p:spPr>
          <a:xfrm>
            <a:off x="77724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45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7848600" y="2714625"/>
            <a:ext cx="2590800" cy="5791200"/>
          </a:xfrm>
          <a:prstGeom prst="roundRect">
            <a:avLst>
              <a:gd name="adj" fmla="val 11397"/>
            </a:avLst>
          </a:prstGeom>
          <a:solidFill>
            <a:srgbClr val="EDE8E0"/>
          </a:solidFill>
          <a:ln/>
        </p:spPr>
      </p:sp>
      <p:sp>
        <p:nvSpPr>
          <p:cNvPr id="17" name="Shape 14"/>
          <p:cNvSpPr/>
          <p:nvPr/>
        </p:nvSpPr>
        <p:spPr>
          <a:xfrm>
            <a:off x="87058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E0D0A"/>
          </a:solidFill>
          <a:ln/>
        </p:spPr>
      </p:sp>
      <p:sp>
        <p:nvSpPr>
          <p:cNvPr id="18" name="Text 15"/>
          <p:cNvSpPr/>
          <p:nvPr/>
        </p:nvSpPr>
        <p:spPr>
          <a:xfrm>
            <a:off x="8077200" y="3133725"/>
            <a:ext cx="234696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الأذونات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8077200" y="3305175"/>
            <a:ext cx="234696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نطلبها عند الحاجة فقط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8058150" y="3838575"/>
            <a:ext cx="217170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9725025" y="398145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2A6CE0">
              <a:alpha val="14000"/>
            </a:srgbClr>
          </a:solidFill>
          <a:ln/>
        </p:spPr>
      </p:sp>
      <p:sp>
        <p:nvSpPr>
          <p:cNvPr id="22" name="Text 19"/>
          <p:cNvSpPr/>
          <p:nvPr/>
        </p:nvSpPr>
        <p:spPr>
          <a:xfrm>
            <a:off x="9686925" y="398145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🔔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810551" y="3983831"/>
            <a:ext cx="876374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الإشعارات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810551" y="4183856"/>
            <a:ext cx="87637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تذكير بمواعيد التمرين</a:t>
            </a:r>
            <a:endParaRPr lang="en-US" sz="825" dirty="0"/>
          </a:p>
        </p:txBody>
      </p:sp>
      <p:sp>
        <p:nvSpPr>
          <p:cNvPr id="25" name="Shape 22"/>
          <p:cNvSpPr/>
          <p:nvPr/>
        </p:nvSpPr>
        <p:spPr>
          <a:xfrm>
            <a:off x="8058150" y="4600575"/>
            <a:ext cx="217170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9725025" y="474345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1F9D57">
              <a:alpha val="14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9686925" y="474345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♥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8740825" y="4745831"/>
            <a:ext cx="9461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آبل هيلث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8740825" y="4945856"/>
            <a:ext cx="9461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لعرض خطواتك ووزنك</a:t>
            </a:r>
            <a:endParaRPr lang="en-US" sz="825" dirty="0"/>
          </a:p>
        </p:txBody>
      </p:sp>
      <p:sp>
        <p:nvSpPr>
          <p:cNvPr id="30" name="Shape 27"/>
          <p:cNvSpPr/>
          <p:nvPr/>
        </p:nvSpPr>
        <p:spPr>
          <a:xfrm>
            <a:off x="8058150" y="5362575"/>
            <a:ext cx="2171700" cy="647700"/>
          </a:xfrm>
          <a:prstGeom prst="roundRect">
            <a:avLst>
              <a:gd name="adj" fmla="val 20588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725025" y="5505450"/>
            <a:ext cx="361950" cy="361950"/>
          </a:xfrm>
          <a:prstGeom prst="roundRect">
            <a:avLst>
              <a:gd name="adj" fmla="val 28947"/>
            </a:avLst>
          </a:prstGeom>
          <a:solidFill>
            <a:srgbClr val="F0512A">
              <a:alpha val="12000"/>
            </a:srgbClr>
          </a:solidFill>
          <a:ln/>
        </p:spPr>
      </p:sp>
      <p:sp>
        <p:nvSpPr>
          <p:cNvPr id="32" name="Text 29"/>
          <p:cNvSpPr/>
          <p:nvPr/>
        </p:nvSpPr>
        <p:spPr>
          <a:xfrm>
            <a:off x="9686925" y="5505450"/>
            <a:ext cx="43815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🎙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9024863" y="5507831"/>
            <a:ext cx="662062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الميكروفون</a:t>
            </a:r>
            <a:endParaRPr lang="en-US" sz="1050" dirty="0"/>
          </a:p>
        </p:txBody>
      </p:sp>
      <p:sp>
        <p:nvSpPr>
          <p:cNvPr id="34" name="Text 31"/>
          <p:cNvSpPr/>
          <p:nvPr/>
        </p:nvSpPr>
        <p:spPr>
          <a:xfrm>
            <a:off x="9024863" y="5707856"/>
            <a:ext cx="66206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للأوامر الصوتية</a:t>
            </a:r>
            <a:endParaRPr lang="en-US" sz="825" dirty="0"/>
          </a:p>
        </p:txBody>
      </p:sp>
      <p:sp>
        <p:nvSpPr>
          <p:cNvPr id="35" name="Shape 32"/>
          <p:cNvSpPr/>
          <p:nvPr/>
        </p:nvSpPr>
        <p:spPr>
          <a:xfrm>
            <a:off x="8058150" y="7758113"/>
            <a:ext cx="2171700" cy="481012"/>
          </a:xfrm>
          <a:prstGeom prst="roundRect">
            <a:avLst>
              <a:gd name="adj" fmla="val 25743"/>
            </a:avLst>
          </a:prstGeom>
          <a:solidFill>
            <a:srgbClr val="F0512A"/>
          </a:solidFill>
          <a:ln/>
        </p:spPr>
      </p:sp>
      <p:sp>
        <p:nvSpPr>
          <p:cNvPr id="36" name="Text 33"/>
          <p:cNvSpPr/>
          <p:nvPr/>
        </p:nvSpPr>
        <p:spPr>
          <a:xfrm>
            <a:off x="8153400" y="7891463"/>
            <a:ext cx="1981200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تخصيص لاحقًا</a:t>
            </a:r>
            <a:endParaRPr lang="en-US" sz="1125" dirty="0"/>
          </a:p>
        </p:txBody>
      </p:sp>
      <p:sp>
        <p:nvSpPr>
          <p:cNvPr id="37" name="Text 34"/>
          <p:cNvSpPr/>
          <p:nvPr/>
        </p:nvSpPr>
        <p:spPr>
          <a:xfrm>
            <a:off x="8629576" y="8734425"/>
            <a:ext cx="11050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06 · الأذونات</a:t>
            </a:r>
            <a:endParaRPr lang="en-US" sz="1125" dirty="0"/>
          </a:p>
        </p:txBody>
      </p:sp>
      <p:sp>
        <p:nvSpPr>
          <p:cNvPr id="38" name="Shape 35"/>
          <p:cNvSpPr/>
          <p:nvPr/>
        </p:nvSpPr>
        <p:spPr>
          <a:xfrm>
            <a:off x="109347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45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11010900" y="2714625"/>
            <a:ext cx="2590800" cy="5791200"/>
          </a:xfrm>
          <a:prstGeom prst="roundRect">
            <a:avLst>
              <a:gd name="adj" fmla="val 11397"/>
            </a:avLst>
          </a:prstGeom>
          <a:gradFill rotWithShape="1">
            <a:gsLst>
              <a:gs pos="0">
                <a:srgbClr val="201A14">
                  <a:alpha val="100000"/>
                </a:srgbClr>
              </a:gs>
              <a:gs pos="100000">
                <a:srgbClr val="141311">
                  <a:alpha val="100000"/>
                </a:srgbClr>
              </a:gs>
            </a:gsLst>
            <a:lin ang="5280000" scaled="0"/>
          </a:gradFill>
          <a:ln/>
        </p:spPr>
      </p:sp>
      <p:sp>
        <p:nvSpPr>
          <p:cNvPr id="40" name="Shape 37"/>
          <p:cNvSpPr/>
          <p:nvPr/>
        </p:nvSpPr>
        <p:spPr>
          <a:xfrm>
            <a:off x="118681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pic>
        <p:nvPicPr>
          <p:cNvPr id="4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734800" y="4132436"/>
            <a:ext cx="1143000" cy="1143000"/>
          </a:xfrm>
          <a:prstGeom prst="rect">
            <a:avLst/>
          </a:prstGeom>
        </p:spPr>
      </p:pic>
      <p:sp>
        <p:nvSpPr>
          <p:cNvPr id="42" name="Text 38"/>
          <p:cNvSpPr/>
          <p:nvPr/>
        </p:nvSpPr>
        <p:spPr>
          <a:xfrm>
            <a:off x="11541521" y="5523086"/>
            <a:ext cx="1529633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نُعدّ خطتك…</a:t>
            </a:r>
            <a:endParaRPr lang="en-US" sz="1650" dirty="0"/>
          </a:p>
        </p:txBody>
      </p:sp>
      <p:sp>
        <p:nvSpPr>
          <p:cNvPr id="43" name="Text 39"/>
          <p:cNvSpPr/>
          <p:nvPr/>
        </p:nvSpPr>
        <p:spPr>
          <a:xfrm>
            <a:off x="11541521" y="5913611"/>
            <a:ext cx="1529633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975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نراعي هدفك، أيامك، ومعدّاتك</a:t>
            </a:r>
            <a:endParaRPr lang="en-US" sz="975" dirty="0"/>
          </a:p>
        </p:txBody>
      </p:sp>
      <p:sp>
        <p:nvSpPr>
          <p:cNvPr id="44" name="Text 40"/>
          <p:cNvSpPr/>
          <p:nvPr/>
        </p:nvSpPr>
        <p:spPr>
          <a:xfrm>
            <a:off x="11827966" y="6359351"/>
            <a:ext cx="103294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9C1B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اخترنا تقسيم الأيام</a:t>
            </a:r>
            <a:endParaRPr lang="en-US" sz="975" dirty="0"/>
          </a:p>
        </p:txBody>
      </p:sp>
      <p:sp>
        <p:nvSpPr>
          <p:cNvPr id="45" name="Text 41"/>
          <p:cNvSpPr/>
          <p:nvPr/>
        </p:nvSpPr>
        <p:spPr>
          <a:xfrm>
            <a:off x="11827966" y="6630814"/>
            <a:ext cx="103294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9C1B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استبعدنا ما تتجنّبه</a:t>
            </a:r>
            <a:endParaRPr lang="en-US" sz="975" dirty="0"/>
          </a:p>
        </p:txBody>
      </p:sp>
      <p:sp>
        <p:nvSpPr>
          <p:cNvPr id="46" name="Text 42"/>
          <p:cNvSpPr/>
          <p:nvPr/>
        </p:nvSpPr>
        <p:spPr>
          <a:xfrm>
            <a:off x="11827966" y="6902276"/>
            <a:ext cx="1032942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9C1B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 ضبطنا الأحجام</a:t>
            </a:r>
            <a:endParaRPr lang="en-US" sz="975" dirty="0"/>
          </a:p>
        </p:txBody>
      </p:sp>
      <p:sp>
        <p:nvSpPr>
          <p:cNvPr id="47" name="Text 43"/>
          <p:cNvSpPr/>
          <p:nvPr/>
        </p:nvSpPr>
        <p:spPr>
          <a:xfrm>
            <a:off x="11663288" y="8734425"/>
            <a:ext cx="14146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13 · بناء الخطة</a:t>
            </a:r>
            <a:endParaRPr lang="en-US" sz="112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62000"/>
            <a:ext cx="182308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D843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AREA · 15–21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857250" y="1028700"/>
            <a:ext cx="182308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A251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اليوم · سبعة سياقات ديناميكية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6101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86300" y="2714625"/>
            <a:ext cx="2590800" cy="5791200"/>
          </a:xfrm>
          <a:prstGeom prst="roundRect">
            <a:avLst>
              <a:gd name="adj" fmla="val 11397"/>
            </a:avLst>
          </a:prstGeom>
          <a:solidFill>
            <a:srgbClr val="EDE8E0"/>
          </a:solidFill>
          <a:ln/>
        </p:spPr>
      </p:sp>
      <p:sp>
        <p:nvSpPr>
          <p:cNvPr id="6" name="Shape 4"/>
          <p:cNvSpPr/>
          <p:nvPr/>
        </p:nvSpPr>
        <p:spPr>
          <a:xfrm>
            <a:off x="55435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E0D0A"/>
          </a:solidFill>
          <a:ln/>
        </p:spPr>
      </p:sp>
      <p:sp>
        <p:nvSpPr>
          <p:cNvPr id="7" name="Text 5"/>
          <p:cNvSpPr/>
          <p:nvPr/>
        </p:nvSpPr>
        <p:spPr>
          <a:xfrm>
            <a:off x="5875734" y="3114675"/>
            <a:ext cx="1331952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السبت · ١٨ يوليو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5875734" y="3271838"/>
            <a:ext cx="1331952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صباح الخير، فهد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876800" y="3164681"/>
            <a:ext cx="342900" cy="342900"/>
          </a:xfrm>
          <a:prstGeom prst="ellipse">
            <a:avLst/>
          </a:prstGeom>
          <a:solidFill>
            <a:srgbClr val="16140F"/>
          </a:solidFill>
          <a:ln/>
        </p:spPr>
      </p:sp>
      <p:sp>
        <p:nvSpPr>
          <p:cNvPr id="10" name="Text 8"/>
          <p:cNvSpPr/>
          <p:nvPr/>
        </p:nvSpPr>
        <p:spPr>
          <a:xfrm>
            <a:off x="4838700" y="3164681"/>
            <a:ext cx="41910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38700" y="3690937"/>
            <a:ext cx="2286000" cy="1304925"/>
          </a:xfrm>
          <a:prstGeom prst="roundRect">
            <a:avLst>
              <a:gd name="adj" fmla="val 14599"/>
            </a:avLst>
          </a:prstGeom>
          <a:gradFill rotWithShape="1">
            <a:gsLst>
              <a:gs pos="0">
                <a:srgbClr val="16140F">
                  <a:alpha val="100000"/>
                </a:srgbClr>
              </a:gs>
              <a:gs pos="100000">
                <a:srgbClr val="26221A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12" name="Text 10"/>
          <p:cNvSpPr/>
          <p:nvPr/>
        </p:nvSpPr>
        <p:spPr>
          <a:xfrm>
            <a:off x="4991100" y="3843338"/>
            <a:ext cx="217932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C9C1B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جاهز تبدأ يومك؟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4991100" y="4057650"/>
            <a:ext cx="217932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تمرين اليوم · دفع</a:t>
            </a:r>
            <a:endParaRPr lang="en-US" sz="1275" dirty="0"/>
          </a:p>
        </p:txBody>
      </p:sp>
      <p:sp>
        <p:nvSpPr>
          <p:cNvPr id="14" name="Shape 12"/>
          <p:cNvSpPr/>
          <p:nvPr/>
        </p:nvSpPr>
        <p:spPr>
          <a:xfrm>
            <a:off x="4991100" y="4414838"/>
            <a:ext cx="1981200" cy="428625"/>
          </a:xfrm>
          <a:prstGeom prst="roundRect">
            <a:avLst>
              <a:gd name="adj" fmla="val 26667"/>
            </a:avLst>
          </a:prstGeom>
          <a:solidFill>
            <a:srgbClr val="F0512A"/>
          </a:solidFill>
          <a:ln/>
        </p:spPr>
      </p:sp>
      <p:sp>
        <p:nvSpPr>
          <p:cNvPr id="15" name="Text 13"/>
          <p:cNvSpPr/>
          <p:nvPr/>
        </p:nvSpPr>
        <p:spPr>
          <a:xfrm>
            <a:off x="5067300" y="4529138"/>
            <a:ext cx="18288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ابدأ التمرين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024563" y="5100638"/>
            <a:ext cx="1100138" cy="728663"/>
          </a:xfrm>
          <a:prstGeom prst="roundRect">
            <a:avLst>
              <a:gd name="adj" fmla="val 18301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138863" y="5214938"/>
            <a:ext cx="9477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البروتين المتبقّي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6138863" y="5357813"/>
            <a:ext cx="9477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150غ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6138863" y="5586413"/>
            <a:ext cx="94773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تقدير</a:t>
            </a:r>
            <a:endParaRPr lang="en-US" sz="675" dirty="0"/>
          </a:p>
        </p:txBody>
      </p:sp>
      <p:sp>
        <p:nvSpPr>
          <p:cNvPr id="20" name="Shape 18"/>
          <p:cNvSpPr/>
          <p:nvPr/>
        </p:nvSpPr>
        <p:spPr>
          <a:xfrm>
            <a:off x="4838700" y="5100638"/>
            <a:ext cx="1100138" cy="728663"/>
          </a:xfrm>
          <a:prstGeom prst="roundRect">
            <a:avLst>
              <a:gd name="adj" fmla="val 18301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953000" y="5214938"/>
            <a:ext cx="947737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الخطوات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953000" y="5357813"/>
            <a:ext cx="947737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—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953000" y="5586413"/>
            <a:ext cx="947737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2A6CE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اربط هيلث</a:t>
            </a:r>
            <a:endParaRPr lang="en-US" sz="675" dirty="0"/>
          </a:p>
        </p:txBody>
      </p:sp>
      <p:sp>
        <p:nvSpPr>
          <p:cNvPr id="24" name="Text 22"/>
          <p:cNvSpPr/>
          <p:nvPr/>
        </p:nvSpPr>
        <p:spPr>
          <a:xfrm>
            <a:off x="5595863" y="8734425"/>
            <a:ext cx="84779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15 · صباح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77724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7848600" y="2714625"/>
            <a:ext cx="2590800" cy="5791200"/>
          </a:xfrm>
          <a:prstGeom prst="roundRect">
            <a:avLst>
              <a:gd name="adj" fmla="val 11397"/>
            </a:avLst>
          </a:prstGeom>
          <a:solidFill>
            <a:srgbClr val="141311"/>
          </a:solidFill>
          <a:ln/>
        </p:spPr>
      </p:sp>
      <p:sp>
        <p:nvSpPr>
          <p:cNvPr id="27" name="Shape 25"/>
          <p:cNvSpPr/>
          <p:nvPr/>
        </p:nvSpPr>
        <p:spPr>
          <a:xfrm>
            <a:off x="87058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8" name="Shape 26"/>
          <p:cNvSpPr/>
          <p:nvPr/>
        </p:nvSpPr>
        <p:spPr>
          <a:xfrm>
            <a:off x="7848600" y="2714625"/>
            <a:ext cx="2590800" cy="5791200"/>
          </a:xfrm>
          <a:prstGeom prst="rect">
            <a:avLst/>
          </a:prstGeom>
          <a:gradFill rotWithShape="1">
            <a:gsLst>
              <a:gs pos="0">
                <a:srgbClr val="F0512A">
                  <a:alpha val="20000"/>
                </a:srgbClr>
              </a:gs>
              <a:gs pos="55000">
                <a:srgbClr val="F0512A">
                  <a:alpha val="0"/>
                </a:srgbClr>
              </a:gs>
            </a:gsLst>
            <a:path path="circle">
              <a:fillToRect l="50000" t="20000" r="50000" b="80000"/>
            </a:path>
          </a:gradFill>
          <a:ln/>
        </p:spPr>
      </p:sp>
      <p:sp>
        <p:nvSpPr>
          <p:cNvPr id="29" name="Text 27"/>
          <p:cNvSpPr/>
          <p:nvPr/>
        </p:nvSpPr>
        <p:spPr>
          <a:xfrm>
            <a:off x="8020050" y="3114675"/>
            <a:ext cx="24726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٥:٣٠ مساءً · وقت التمرين</a:t>
            </a:r>
            <a:endParaRPr lang="en-US" sz="825" dirty="0"/>
          </a:p>
        </p:txBody>
      </p:sp>
      <p:sp>
        <p:nvSpPr>
          <p:cNvPr id="30" name="Text 28"/>
          <p:cNvSpPr/>
          <p:nvPr/>
        </p:nvSpPr>
        <p:spPr>
          <a:xfrm>
            <a:off x="8020050" y="3271838"/>
            <a:ext cx="24726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جاهز؟ يلّا نبدأ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8001000" y="3690937"/>
            <a:ext cx="2286000" cy="971550"/>
          </a:xfrm>
          <a:prstGeom prst="roundRect">
            <a:avLst>
              <a:gd name="adj" fmla="val 19608"/>
            </a:avLst>
          </a:prstGeom>
          <a:gradFill rotWithShape="1">
            <a:gsLst>
              <a:gs pos="0">
                <a:srgbClr val="F0512A">
                  <a:alpha val="100000"/>
                </a:srgbClr>
              </a:gs>
              <a:gs pos="100000">
                <a:srgbClr val="D8431F">
                  <a:alpha val="100000"/>
                </a:srgbClr>
              </a:gs>
            </a:gsLst>
            <a:lin ang="3600000" scaled="0"/>
          </a:gradFill>
          <a:ln/>
          <a:effectLst>
            <a:outerShdw sx="100000" sy="100000" kx="0" ky="0" algn="bl" rotWithShape="0" blurRad="285750" dist="114300" dir="5400000">
              <a:srgbClr val="E0431C">
                <a:alpha val="35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8153400" y="3843338"/>
            <a:ext cx="21793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تمرين اليوم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153400" y="4014788"/>
            <a:ext cx="217932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دفع · القوّة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8153400" y="4338638"/>
            <a:ext cx="21793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٦ تمارين · ~٤٥ دقيقة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001000" y="4767263"/>
            <a:ext cx="2286000" cy="385763"/>
          </a:xfrm>
          <a:prstGeom prst="roundRect">
            <a:avLst>
              <a:gd name="adj" fmla="val 34568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8115300" y="4881563"/>
            <a:ext cx="213360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توقّع: ~٣٢٠ سعرة — تقدير حسب سجلّك.</a:t>
            </a:r>
            <a:endParaRPr lang="en-US" sz="825" dirty="0"/>
          </a:p>
        </p:txBody>
      </p:sp>
      <p:sp>
        <p:nvSpPr>
          <p:cNvPr id="37" name="Text 35"/>
          <p:cNvSpPr/>
          <p:nvPr/>
        </p:nvSpPr>
        <p:spPr>
          <a:xfrm>
            <a:off x="8458126" y="8734425"/>
            <a:ext cx="15089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17 · وقت التمرين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109347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30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11010900" y="2714625"/>
            <a:ext cx="2590800" cy="5791200"/>
          </a:xfrm>
          <a:prstGeom prst="roundRect">
            <a:avLst>
              <a:gd name="adj" fmla="val 11397"/>
            </a:avLst>
          </a:prstGeom>
          <a:solidFill>
            <a:srgbClr val="EDE8E0"/>
          </a:solidFill>
          <a:ln/>
        </p:spPr>
      </p:sp>
      <p:sp>
        <p:nvSpPr>
          <p:cNvPr id="40" name="Shape 38"/>
          <p:cNvSpPr/>
          <p:nvPr/>
        </p:nvSpPr>
        <p:spPr>
          <a:xfrm>
            <a:off x="118681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E0D0A"/>
          </a:solidFill>
          <a:ln/>
        </p:spPr>
      </p:sp>
      <p:sp>
        <p:nvSpPr>
          <p:cNvPr id="41" name="Text 39"/>
          <p:cNvSpPr/>
          <p:nvPr/>
        </p:nvSpPr>
        <p:spPr>
          <a:xfrm>
            <a:off x="11182350" y="3114675"/>
            <a:ext cx="247269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أحسنت اليوم 💪</a:t>
            </a:r>
            <a:endParaRPr lang="en-US" sz="825" dirty="0"/>
          </a:p>
        </p:txBody>
      </p:sp>
      <p:sp>
        <p:nvSpPr>
          <p:cNvPr id="42" name="Text 40"/>
          <p:cNvSpPr/>
          <p:nvPr/>
        </p:nvSpPr>
        <p:spPr>
          <a:xfrm>
            <a:off x="11182350" y="3271838"/>
            <a:ext cx="247269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اكتمل التمرين</a:t>
            </a:r>
            <a:endParaRPr lang="en-US" sz="1500" dirty="0"/>
          </a:p>
        </p:txBody>
      </p:sp>
      <p:sp>
        <p:nvSpPr>
          <p:cNvPr id="43" name="Shape 41"/>
          <p:cNvSpPr/>
          <p:nvPr/>
        </p:nvSpPr>
        <p:spPr>
          <a:xfrm>
            <a:off x="11163300" y="3690937"/>
            <a:ext cx="2286000" cy="776288"/>
          </a:xfrm>
          <a:prstGeom prst="roundRect">
            <a:avLst>
              <a:gd name="adj" fmla="val 24540"/>
            </a:avLst>
          </a:prstGeom>
          <a:gradFill rotWithShape="1">
            <a:gsLst>
              <a:gs pos="0">
                <a:srgbClr val="1F9D57">
                  <a:alpha val="100000"/>
                </a:srgbClr>
              </a:gs>
              <a:gs pos="100000">
                <a:srgbClr val="178047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44" name="Text 42"/>
          <p:cNvSpPr/>
          <p:nvPr/>
        </p:nvSpPr>
        <p:spPr>
          <a:xfrm>
            <a:off x="11315700" y="3843338"/>
            <a:ext cx="217932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5000"/>
                  </a:srgbClr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حجم العمل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315700" y="4014788"/>
            <a:ext cx="2179320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٦٫٤ طن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1163300" y="4572000"/>
            <a:ext cx="2286000" cy="614363"/>
          </a:xfrm>
          <a:prstGeom prst="roundRect">
            <a:avLst>
              <a:gd name="adj" fmla="val 24806"/>
            </a:avLst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11296650" y="4705350"/>
            <a:ext cx="222123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تسجيل التعافي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11296650" y="4895850"/>
            <a:ext cx="222123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 تشعر بعد التمرين؟</a:t>
            </a:r>
            <a:endParaRPr lang="en-US" sz="825" dirty="0"/>
          </a:p>
        </p:txBody>
      </p:sp>
      <p:sp>
        <p:nvSpPr>
          <p:cNvPr id="49" name="Text 47"/>
          <p:cNvSpPr/>
          <p:nvPr/>
        </p:nvSpPr>
        <p:spPr>
          <a:xfrm>
            <a:off x="11620426" y="8734425"/>
            <a:ext cx="15089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18 · بعد التمرين</a:t>
            </a:r>
            <a:endParaRPr lang="en-US" sz="11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62000"/>
            <a:ext cx="182308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089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AREA · 22–36 · THE CORE LOOP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857250" y="1028700"/>
            <a:ext cx="182308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التمارين · قلب التطبيق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3562350" y="2864644"/>
            <a:ext cx="2533650" cy="5486400"/>
          </a:xfrm>
          <a:prstGeom prst="roundRect">
            <a:avLst>
              <a:gd name="adj" fmla="val 1353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5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29025" y="2931319"/>
            <a:ext cx="2400300" cy="5353050"/>
          </a:xfrm>
          <a:prstGeom prst="roundRect">
            <a:avLst>
              <a:gd name="adj" fmla="val 11905"/>
            </a:avLst>
          </a:prstGeom>
          <a:solidFill>
            <a:srgbClr val="141311"/>
          </a:solidFill>
          <a:ln/>
        </p:spPr>
      </p:sp>
      <p:sp>
        <p:nvSpPr>
          <p:cNvPr id="6" name="Shape 4"/>
          <p:cNvSpPr/>
          <p:nvPr/>
        </p:nvSpPr>
        <p:spPr>
          <a:xfrm>
            <a:off x="4419600" y="3017044"/>
            <a:ext cx="819150" cy="2095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7" name="Shape 5"/>
          <p:cNvSpPr/>
          <p:nvPr/>
        </p:nvSpPr>
        <p:spPr>
          <a:xfrm>
            <a:off x="5159276" y="3293269"/>
            <a:ext cx="717649" cy="180975"/>
          </a:xfrm>
          <a:prstGeom prst="roundRect">
            <a:avLst>
              <a:gd name="adj" fmla="val 50000"/>
            </a:avLst>
          </a:prstGeom>
          <a:solidFill>
            <a:srgbClr val="1F9D57">
              <a:alpha val="2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5235476" y="3312319"/>
            <a:ext cx="64144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3FBE7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● محفوظ محليًا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3781425" y="3305175"/>
            <a:ext cx="26937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٢ / ٦</a:t>
            </a:r>
            <a:endParaRPr lang="en-US" sz="825" dirty="0"/>
          </a:p>
        </p:txBody>
      </p:sp>
      <p:sp>
        <p:nvSpPr>
          <p:cNvPr id="10" name="Text 8"/>
          <p:cNvSpPr/>
          <p:nvPr/>
        </p:nvSpPr>
        <p:spPr>
          <a:xfrm>
            <a:off x="3771900" y="3626644"/>
            <a:ext cx="232600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التمرين الحالي</a:t>
            </a:r>
            <a:endParaRPr lang="en-US" sz="825" dirty="0"/>
          </a:p>
        </p:txBody>
      </p:sp>
      <p:sp>
        <p:nvSpPr>
          <p:cNvPr id="11" name="Text 9"/>
          <p:cNvSpPr/>
          <p:nvPr/>
        </p:nvSpPr>
        <p:spPr>
          <a:xfrm>
            <a:off x="3771900" y="3783806"/>
            <a:ext cx="2326005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بنش برس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3771900" y="4169569"/>
            <a:ext cx="2114550" cy="1052513"/>
          </a:xfrm>
          <a:prstGeom prst="roundRect">
            <a:avLst>
              <a:gd name="adj" fmla="val 14480"/>
            </a:avLst>
          </a:prstGeom>
          <a:solidFill>
            <a:srgbClr val="FFFFFF">
              <a:alpha val="5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5418534" y="4255294"/>
            <a:ext cx="42981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829175" y="4255294"/>
            <a:ext cx="6655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كجم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4239816" y="4255294"/>
            <a:ext cx="665559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تكرار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771900" y="4483894"/>
            <a:ext cx="21145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5418534" y="4579144"/>
            <a:ext cx="4298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C756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١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829175" y="4579144"/>
            <a:ext cx="6655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C756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٧٥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239816" y="4579144"/>
            <a:ext cx="665559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7C756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٨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886200" y="4579144"/>
            <a:ext cx="429816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3FBE7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771900" y="4836319"/>
            <a:ext cx="2114550" cy="385763"/>
          </a:xfrm>
          <a:prstGeom prst="rect">
            <a:avLst/>
          </a:prstGeom>
          <a:solidFill>
            <a:srgbClr val="F0512A">
              <a:alpha val="1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3771900" y="4836319"/>
            <a:ext cx="2114550" cy="9525"/>
          </a:xfrm>
          <a:prstGeom prst="rect">
            <a:avLst/>
          </a:prstGeom>
          <a:solidFill>
            <a:srgbClr val="FFFFFF">
              <a:alpha val="6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18534" y="4941094"/>
            <a:ext cx="4298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8A5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٢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4829175" y="4941094"/>
            <a:ext cx="6655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٧٥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4239816" y="4941094"/>
            <a:ext cx="66555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٨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3886200" y="4941094"/>
            <a:ext cx="429816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FF8A5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الآن</a:t>
            </a:r>
            <a:endParaRPr lang="en-US" sz="975" dirty="0"/>
          </a:p>
        </p:txBody>
      </p:sp>
      <p:sp>
        <p:nvSpPr>
          <p:cNvPr id="27" name="Shape 25"/>
          <p:cNvSpPr/>
          <p:nvPr/>
        </p:nvSpPr>
        <p:spPr>
          <a:xfrm>
            <a:off x="3771900" y="7593806"/>
            <a:ext cx="2114550" cy="481012"/>
          </a:xfrm>
          <a:prstGeom prst="roundRect">
            <a:avLst>
              <a:gd name="adj" fmla="val 25743"/>
            </a:avLst>
          </a:prstGeom>
          <a:solidFill>
            <a:srgbClr val="1F9D57"/>
          </a:solidFill>
          <a:ln/>
        </p:spPr>
      </p:sp>
      <p:sp>
        <p:nvSpPr>
          <p:cNvPr id="28" name="Text 26"/>
          <p:cNvSpPr/>
          <p:nvPr/>
        </p:nvSpPr>
        <p:spPr>
          <a:xfrm>
            <a:off x="3867150" y="7727156"/>
            <a:ext cx="1924050" cy="2524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إنهاء المجموعة</a:t>
            </a:r>
            <a:endParaRPr lang="en-US" sz="1125" dirty="0"/>
          </a:p>
        </p:txBody>
      </p:sp>
      <p:sp>
        <p:nvSpPr>
          <p:cNvPr id="29" name="Text 27"/>
          <p:cNvSpPr/>
          <p:nvPr/>
        </p:nvSpPr>
        <p:spPr>
          <a:xfrm>
            <a:off x="4188991" y="8484394"/>
            <a:ext cx="140832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25 · تمرين مباشر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438900" y="2864644"/>
            <a:ext cx="2533650" cy="5486400"/>
          </a:xfrm>
          <a:prstGeom prst="roundRect">
            <a:avLst>
              <a:gd name="adj" fmla="val 1353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5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505575" y="2931319"/>
            <a:ext cx="2400300" cy="5353050"/>
          </a:xfrm>
          <a:prstGeom prst="roundRect">
            <a:avLst>
              <a:gd name="adj" fmla="val 11905"/>
            </a:avLst>
          </a:prstGeom>
          <a:solidFill>
            <a:srgbClr val="0C0B09"/>
          </a:solidFill>
          <a:ln/>
        </p:spPr>
      </p:sp>
      <p:sp>
        <p:nvSpPr>
          <p:cNvPr id="32" name="Shape 30"/>
          <p:cNvSpPr/>
          <p:nvPr/>
        </p:nvSpPr>
        <p:spPr>
          <a:xfrm>
            <a:off x="7296150" y="3017044"/>
            <a:ext cx="819150" cy="2095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33" name="Text 31"/>
          <p:cNvSpPr/>
          <p:nvPr/>
        </p:nvSpPr>
        <p:spPr>
          <a:xfrm>
            <a:off x="8345165" y="3293269"/>
            <a:ext cx="46546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C756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بنش برس</a:t>
            </a:r>
            <a:endParaRPr lang="en-US" sz="825" dirty="0"/>
          </a:p>
        </p:txBody>
      </p:sp>
      <p:sp>
        <p:nvSpPr>
          <p:cNvPr id="34" name="Text 32"/>
          <p:cNvSpPr/>
          <p:nvPr/>
        </p:nvSpPr>
        <p:spPr>
          <a:xfrm>
            <a:off x="6677025" y="3293269"/>
            <a:ext cx="28269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7C756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٢ / ٣</a:t>
            </a:r>
            <a:endParaRPr lang="en-US" sz="825" dirty="0"/>
          </a:p>
        </p:txBody>
      </p:sp>
      <p:sp>
        <p:nvSpPr>
          <p:cNvPr id="35" name="Text 33"/>
          <p:cNvSpPr/>
          <p:nvPr/>
        </p:nvSpPr>
        <p:spPr>
          <a:xfrm>
            <a:off x="7419975" y="5012531"/>
            <a:ext cx="6477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الوزن × التكرار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696200" y="5241131"/>
            <a:ext cx="762149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68354"/>
              </a:lnSpc>
              <a:buNone/>
            </a:pPr>
            <a:r>
              <a:rPr lang="en-US" sz="4500" b="1" dirty="0">
                <a:solidFill>
                  <a:srgbClr val="F2EE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٧٥</a:t>
            </a:r>
            <a:endParaRPr lang="en-US" sz="4500" dirty="0"/>
          </a:p>
        </p:txBody>
      </p:sp>
      <p:sp>
        <p:nvSpPr>
          <p:cNvPr id="37" name="Text 35"/>
          <p:cNvSpPr/>
          <p:nvPr/>
        </p:nvSpPr>
        <p:spPr>
          <a:xfrm>
            <a:off x="7696200" y="5755481"/>
            <a:ext cx="762149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7C756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كجم</a:t>
            </a:r>
            <a:endParaRPr lang="en-US" sz="825" dirty="0"/>
          </a:p>
        </p:txBody>
      </p:sp>
      <p:sp>
        <p:nvSpPr>
          <p:cNvPr id="38" name="Text 36"/>
          <p:cNvSpPr/>
          <p:nvPr/>
        </p:nvSpPr>
        <p:spPr>
          <a:xfrm>
            <a:off x="7448550" y="5393531"/>
            <a:ext cx="24765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dirty="0">
                <a:solidFill>
                  <a:srgbClr val="7C756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×</a:t>
            </a:r>
            <a:endParaRPr lang="en-US" sz="2250" dirty="0"/>
          </a:p>
        </p:txBody>
      </p:sp>
      <p:sp>
        <p:nvSpPr>
          <p:cNvPr id="39" name="Text 37"/>
          <p:cNvSpPr/>
          <p:nvPr/>
        </p:nvSpPr>
        <p:spPr>
          <a:xfrm>
            <a:off x="6953176" y="5241131"/>
            <a:ext cx="419174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68354"/>
              </a:lnSpc>
              <a:buNone/>
            </a:pPr>
            <a:r>
              <a:rPr lang="en-US" sz="4500" b="1" dirty="0">
                <a:solidFill>
                  <a:srgbClr val="F2EE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٨</a:t>
            </a:r>
            <a:endParaRPr lang="en-US" sz="4500" dirty="0"/>
          </a:p>
        </p:txBody>
      </p:sp>
      <p:sp>
        <p:nvSpPr>
          <p:cNvPr id="40" name="Text 38"/>
          <p:cNvSpPr/>
          <p:nvPr/>
        </p:nvSpPr>
        <p:spPr>
          <a:xfrm>
            <a:off x="6953176" y="5755481"/>
            <a:ext cx="41917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7C756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تكرار</a:t>
            </a:r>
            <a:endParaRPr lang="en-US" sz="825" dirty="0"/>
          </a:p>
        </p:txBody>
      </p:sp>
      <p:sp>
        <p:nvSpPr>
          <p:cNvPr id="41" name="Shape 39"/>
          <p:cNvSpPr/>
          <p:nvPr/>
        </p:nvSpPr>
        <p:spPr>
          <a:xfrm>
            <a:off x="6677025" y="7474744"/>
            <a:ext cx="2057400" cy="600075"/>
          </a:xfrm>
          <a:prstGeom prst="roundRect">
            <a:avLst>
              <a:gd name="adj" fmla="val 25397"/>
            </a:avLst>
          </a:prstGeom>
          <a:solidFill>
            <a:srgbClr val="1F9D57"/>
          </a:solidFill>
          <a:ln/>
        </p:spPr>
      </p:sp>
      <p:sp>
        <p:nvSpPr>
          <p:cNvPr id="42" name="Text 40"/>
          <p:cNvSpPr/>
          <p:nvPr/>
        </p:nvSpPr>
        <p:spPr>
          <a:xfrm>
            <a:off x="6810375" y="7646194"/>
            <a:ext cx="179070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تمّت المجموعة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7065541" y="8484394"/>
            <a:ext cx="140832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26 · وضع التركيز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9315450" y="2864644"/>
            <a:ext cx="2533650" cy="5486400"/>
          </a:xfrm>
          <a:prstGeom prst="roundRect">
            <a:avLst>
              <a:gd name="adj" fmla="val 1353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5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9382125" y="2931319"/>
            <a:ext cx="2400300" cy="5353050"/>
          </a:xfrm>
          <a:prstGeom prst="roundRect">
            <a:avLst>
              <a:gd name="adj" fmla="val 11905"/>
            </a:avLst>
          </a:prstGeom>
          <a:gradFill rotWithShape="1">
            <a:gsLst>
              <a:gs pos="0">
                <a:srgbClr val="141311">
                  <a:alpha val="100000"/>
                </a:srgbClr>
              </a:gs>
              <a:gs pos="100000">
                <a:srgbClr val="0C0B09">
                  <a:alpha val="100000"/>
                </a:srgbClr>
              </a:gs>
            </a:gsLst>
            <a:lin ang="5280000" scaled="0"/>
          </a:gradFill>
          <a:ln/>
        </p:spPr>
      </p:sp>
      <p:sp>
        <p:nvSpPr>
          <p:cNvPr id="46" name="Shape 44"/>
          <p:cNvSpPr/>
          <p:nvPr/>
        </p:nvSpPr>
        <p:spPr>
          <a:xfrm>
            <a:off x="10172700" y="3017044"/>
            <a:ext cx="819150" cy="2095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47" name="Text 45"/>
          <p:cNvSpPr/>
          <p:nvPr/>
        </p:nvSpPr>
        <p:spPr>
          <a:xfrm>
            <a:off x="9515475" y="3293269"/>
            <a:ext cx="21336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راحة</a:t>
            </a:r>
            <a:endParaRPr lang="en-US" sz="975" dirty="0"/>
          </a:p>
        </p:txBody>
      </p:sp>
      <p:pic>
        <p:nvPicPr>
          <p:cNvPr id="4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725025" y="4421981"/>
            <a:ext cx="1714500" cy="1714500"/>
          </a:xfrm>
          <a:prstGeom prst="rect">
            <a:avLst/>
          </a:prstGeom>
        </p:spPr>
      </p:pic>
      <p:sp>
        <p:nvSpPr>
          <p:cNvPr id="49" name="Text 46"/>
          <p:cNvSpPr/>
          <p:nvPr/>
        </p:nvSpPr>
        <p:spPr>
          <a:xfrm>
            <a:off x="10018365" y="4910138"/>
            <a:ext cx="1127894" cy="619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3450" b="1" dirty="0">
                <a:solidFill>
                  <a:srgbClr val="F2EE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٠:٣٨</a:t>
            </a:r>
            <a:endParaRPr lang="en-US" sz="3450" dirty="0"/>
          </a:p>
        </p:txBody>
      </p:sp>
      <p:sp>
        <p:nvSpPr>
          <p:cNvPr id="50" name="Text 47"/>
          <p:cNvSpPr/>
          <p:nvPr/>
        </p:nvSpPr>
        <p:spPr>
          <a:xfrm>
            <a:off x="10018365" y="5491163"/>
            <a:ext cx="112789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7C756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 ٠:٩٠</a:t>
            </a:r>
            <a:endParaRPr lang="en-US" sz="825" dirty="0"/>
          </a:p>
        </p:txBody>
      </p:sp>
      <p:sp>
        <p:nvSpPr>
          <p:cNvPr id="51" name="Text 48"/>
          <p:cNvSpPr/>
          <p:nvPr/>
        </p:nvSpPr>
        <p:spPr>
          <a:xfrm>
            <a:off x="9877418" y="6326981"/>
            <a:ext cx="1409715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7C756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التالي</a:t>
            </a:r>
            <a:endParaRPr lang="en-US" sz="825" dirty="0"/>
          </a:p>
        </p:txBody>
      </p:sp>
      <p:sp>
        <p:nvSpPr>
          <p:cNvPr id="52" name="Text 49"/>
          <p:cNvSpPr/>
          <p:nvPr/>
        </p:nvSpPr>
        <p:spPr>
          <a:xfrm>
            <a:off x="9877418" y="6484144"/>
            <a:ext cx="140971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بنش برس · مجموعة ٣</a:t>
            </a:r>
            <a:endParaRPr lang="en-US" sz="1125" dirty="0"/>
          </a:p>
        </p:txBody>
      </p:sp>
      <p:sp>
        <p:nvSpPr>
          <p:cNvPr id="53" name="Shape 50"/>
          <p:cNvSpPr/>
          <p:nvPr/>
        </p:nvSpPr>
        <p:spPr>
          <a:xfrm>
            <a:off x="10982325" y="7641431"/>
            <a:ext cx="647700" cy="433388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4" name="Text 51"/>
          <p:cNvSpPr/>
          <p:nvPr/>
        </p:nvSpPr>
        <p:spPr>
          <a:xfrm>
            <a:off x="11068050" y="7765256"/>
            <a:ext cx="4762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−١٥ث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10258425" y="7641431"/>
            <a:ext cx="647700" cy="433388"/>
          </a:xfrm>
          <a:prstGeom prst="roundRect">
            <a:avLst>
              <a:gd name="adj" fmla="val 28571"/>
            </a:avLst>
          </a:prstGeom>
          <a:solidFill>
            <a:srgbClr val="F0512A"/>
          </a:solidFill>
          <a:ln/>
        </p:spPr>
      </p:sp>
      <p:sp>
        <p:nvSpPr>
          <p:cNvPr id="56" name="Text 53"/>
          <p:cNvSpPr/>
          <p:nvPr/>
        </p:nvSpPr>
        <p:spPr>
          <a:xfrm>
            <a:off x="10344150" y="7765256"/>
            <a:ext cx="4762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تخطّي</a:t>
            </a:r>
            <a:endParaRPr lang="en-US" sz="975" dirty="0"/>
          </a:p>
        </p:txBody>
      </p:sp>
      <p:sp>
        <p:nvSpPr>
          <p:cNvPr id="57" name="Shape 54"/>
          <p:cNvSpPr/>
          <p:nvPr/>
        </p:nvSpPr>
        <p:spPr>
          <a:xfrm>
            <a:off x="9534525" y="7641431"/>
            <a:ext cx="647700" cy="433388"/>
          </a:xfrm>
          <a:prstGeom prst="roundRect">
            <a:avLst>
              <a:gd name="adj" fmla="val 28571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58" name="Text 55"/>
          <p:cNvSpPr/>
          <p:nvPr/>
        </p:nvSpPr>
        <p:spPr>
          <a:xfrm>
            <a:off x="9620250" y="7765256"/>
            <a:ext cx="4762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+١٥ث</a:t>
            </a:r>
            <a:endParaRPr lang="en-US" sz="900" dirty="0"/>
          </a:p>
        </p:txBody>
      </p:sp>
      <p:sp>
        <p:nvSpPr>
          <p:cNvPr id="59" name="Text 56"/>
          <p:cNvSpPr/>
          <p:nvPr/>
        </p:nvSpPr>
        <p:spPr>
          <a:xfrm>
            <a:off x="9942091" y="8484394"/>
            <a:ext cx="1408323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28 · مؤقّت الراحة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12192000" y="2864644"/>
            <a:ext cx="2533650" cy="5486400"/>
          </a:xfrm>
          <a:prstGeom prst="roundRect">
            <a:avLst>
              <a:gd name="adj" fmla="val 1353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5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12258675" y="2931319"/>
            <a:ext cx="2400300" cy="5353050"/>
          </a:xfrm>
          <a:prstGeom prst="roundRect">
            <a:avLst>
              <a:gd name="adj" fmla="val 11905"/>
            </a:avLst>
          </a:prstGeom>
          <a:gradFill rotWithShape="1">
            <a:gsLst>
              <a:gs pos="0">
                <a:srgbClr val="12291C">
                  <a:alpha val="100000"/>
                </a:srgbClr>
              </a:gs>
              <a:gs pos="100000">
                <a:srgbClr val="141311">
                  <a:alpha val="100000"/>
                </a:srgbClr>
              </a:gs>
            </a:gsLst>
            <a:lin ang="5280000" scaled="0"/>
          </a:gradFill>
          <a:ln/>
        </p:spPr>
      </p:sp>
      <p:sp>
        <p:nvSpPr>
          <p:cNvPr id="62" name="Shape 59"/>
          <p:cNvSpPr/>
          <p:nvPr/>
        </p:nvSpPr>
        <p:spPr>
          <a:xfrm>
            <a:off x="13049250" y="3017044"/>
            <a:ext cx="819150" cy="20955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63" name="Shape 60"/>
          <p:cNvSpPr/>
          <p:nvPr/>
        </p:nvSpPr>
        <p:spPr>
          <a:xfrm>
            <a:off x="13211175" y="3350419"/>
            <a:ext cx="495300" cy="495300"/>
          </a:xfrm>
          <a:prstGeom prst="ellipse">
            <a:avLst/>
          </a:prstGeom>
          <a:solidFill>
            <a:srgbClr val="1F9D57">
              <a:alpha val="18000"/>
            </a:srgbClr>
          </a:solidFill>
          <a:ln/>
        </p:spPr>
      </p:sp>
      <p:sp>
        <p:nvSpPr>
          <p:cNvPr id="64" name="Text 61"/>
          <p:cNvSpPr/>
          <p:nvPr/>
        </p:nvSpPr>
        <p:spPr>
          <a:xfrm>
            <a:off x="13173075" y="3350419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3FBE7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✓</a:t>
            </a:r>
            <a:endParaRPr lang="en-US" sz="1800" dirty="0"/>
          </a:p>
        </p:txBody>
      </p:sp>
      <p:sp>
        <p:nvSpPr>
          <p:cNvPr id="65" name="Text 62"/>
          <p:cNvSpPr/>
          <p:nvPr/>
        </p:nvSpPr>
        <p:spPr>
          <a:xfrm>
            <a:off x="12327255" y="3940969"/>
            <a:ext cx="226314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أحسنت!</a:t>
            </a:r>
            <a:endParaRPr lang="en-US" sz="1500" dirty="0"/>
          </a:p>
        </p:txBody>
      </p:sp>
      <p:sp>
        <p:nvSpPr>
          <p:cNvPr id="66" name="Text 63"/>
          <p:cNvSpPr/>
          <p:nvPr/>
        </p:nvSpPr>
        <p:spPr>
          <a:xfrm>
            <a:off x="12327255" y="4226719"/>
            <a:ext cx="226314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825" dirty="0">
                <a:solidFill>
                  <a:srgbClr val="8FD1A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دفع · اكتمل</a:t>
            </a:r>
            <a:endParaRPr lang="en-US" sz="825" dirty="0"/>
          </a:p>
        </p:txBody>
      </p:sp>
      <p:sp>
        <p:nvSpPr>
          <p:cNvPr id="67" name="Shape 64"/>
          <p:cNvSpPr/>
          <p:nvPr/>
        </p:nvSpPr>
        <p:spPr>
          <a:xfrm>
            <a:off x="13496925" y="4498181"/>
            <a:ext cx="1019175" cy="542925"/>
          </a:xfrm>
          <a:prstGeom prst="roundRect">
            <a:avLst>
              <a:gd name="adj" fmla="val 22807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68" name="Text 65"/>
          <p:cNvSpPr/>
          <p:nvPr/>
        </p:nvSpPr>
        <p:spPr>
          <a:xfrm>
            <a:off x="13563600" y="4602956"/>
            <a:ext cx="8858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2EE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٤٧:١٢</a:t>
            </a:r>
            <a:endParaRPr lang="en-US" sz="1200" dirty="0"/>
          </a:p>
        </p:txBody>
      </p:sp>
      <p:sp>
        <p:nvSpPr>
          <p:cNvPr id="69" name="Text 66"/>
          <p:cNvSpPr/>
          <p:nvPr/>
        </p:nvSpPr>
        <p:spPr>
          <a:xfrm>
            <a:off x="13563600" y="4807744"/>
            <a:ext cx="8858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إجمالي</a:t>
            </a:r>
            <a:endParaRPr lang="en-US" sz="675" dirty="0"/>
          </a:p>
        </p:txBody>
      </p:sp>
      <p:sp>
        <p:nvSpPr>
          <p:cNvPr id="70" name="Shape 67"/>
          <p:cNvSpPr/>
          <p:nvPr/>
        </p:nvSpPr>
        <p:spPr>
          <a:xfrm>
            <a:off x="12401550" y="4498181"/>
            <a:ext cx="1019175" cy="542925"/>
          </a:xfrm>
          <a:prstGeom prst="roundRect">
            <a:avLst>
              <a:gd name="adj" fmla="val 22807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71" name="Text 68"/>
          <p:cNvSpPr/>
          <p:nvPr/>
        </p:nvSpPr>
        <p:spPr>
          <a:xfrm>
            <a:off x="12468225" y="4602956"/>
            <a:ext cx="885825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FBE7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١</a:t>
            </a:r>
            <a:endParaRPr lang="en-US" sz="1200" dirty="0"/>
          </a:p>
        </p:txBody>
      </p:sp>
      <p:sp>
        <p:nvSpPr>
          <p:cNvPr id="72" name="Text 69"/>
          <p:cNvSpPr/>
          <p:nvPr/>
        </p:nvSpPr>
        <p:spPr>
          <a:xfrm>
            <a:off x="12468225" y="4807744"/>
            <a:ext cx="88582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رقم قياسي</a:t>
            </a:r>
            <a:endParaRPr lang="en-US" sz="675" dirty="0"/>
          </a:p>
        </p:txBody>
      </p:sp>
      <p:sp>
        <p:nvSpPr>
          <p:cNvPr id="73" name="Shape 70"/>
          <p:cNvSpPr/>
          <p:nvPr/>
        </p:nvSpPr>
        <p:spPr>
          <a:xfrm>
            <a:off x="12401550" y="5136356"/>
            <a:ext cx="2114550" cy="747713"/>
          </a:xfrm>
          <a:prstGeom prst="roundRect">
            <a:avLst>
              <a:gd name="adj" fmla="val 16560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74" name="Text 71"/>
          <p:cNvSpPr/>
          <p:nvPr/>
        </p:nvSpPr>
        <p:spPr>
          <a:xfrm>
            <a:off x="12515850" y="5250656"/>
            <a:ext cx="2074545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السعرات المقدّرة</a:t>
            </a:r>
            <a:endParaRPr lang="en-US" sz="750" dirty="0"/>
          </a:p>
        </p:txBody>
      </p:sp>
      <p:sp>
        <p:nvSpPr>
          <p:cNvPr id="75" name="Text 72"/>
          <p:cNvSpPr/>
          <p:nvPr/>
        </p:nvSpPr>
        <p:spPr>
          <a:xfrm>
            <a:off x="12515850" y="5393531"/>
            <a:ext cx="2074545" cy="266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F2EEE8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~٣٣٠ </a:t>
            </a:r>
            <a:pPr algn="l" indent="0" marL="0">
              <a:buNone/>
            </a:pPr>
            <a:r>
              <a:rPr lang="en-US" sz="750" b="1" dirty="0">
                <a:solidFill>
                  <a:srgbClr val="7C756B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· تقدير</a:t>
            </a:r>
            <a:endParaRPr lang="en-US" sz="1350" dirty="0"/>
          </a:p>
        </p:txBody>
      </p:sp>
      <p:sp>
        <p:nvSpPr>
          <p:cNvPr id="76" name="Text 73"/>
          <p:cNvSpPr/>
          <p:nvPr/>
        </p:nvSpPr>
        <p:spPr>
          <a:xfrm>
            <a:off x="12515850" y="5641181"/>
            <a:ext cx="2074545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75" dirty="0">
                <a:solidFill>
                  <a:srgbClr val="7C756B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معدّل القلب غير متوفّر.</a:t>
            </a:r>
            <a:endParaRPr lang="en-US" sz="675" dirty="0"/>
          </a:p>
        </p:txBody>
      </p:sp>
      <p:sp>
        <p:nvSpPr>
          <p:cNvPr id="77" name="Text 74"/>
          <p:cNvSpPr/>
          <p:nvPr/>
        </p:nvSpPr>
        <p:spPr>
          <a:xfrm>
            <a:off x="13018666" y="8484394"/>
            <a:ext cx="956444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35 · الملخّص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62000"/>
            <a:ext cx="182308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D843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AREA · 37–47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857250" y="1028700"/>
            <a:ext cx="182308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A251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التعافي والتغذية · بيانات ذاتية موسومة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6101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86300" y="2714625"/>
            <a:ext cx="2590800" cy="5791200"/>
          </a:xfrm>
          <a:prstGeom prst="roundRect">
            <a:avLst>
              <a:gd name="adj" fmla="val 11397"/>
            </a:avLst>
          </a:prstGeom>
          <a:solidFill>
            <a:srgbClr val="E7ECEB"/>
          </a:solidFill>
          <a:ln/>
        </p:spPr>
      </p:sp>
      <p:sp>
        <p:nvSpPr>
          <p:cNvPr id="6" name="Shape 4"/>
          <p:cNvSpPr/>
          <p:nvPr/>
        </p:nvSpPr>
        <p:spPr>
          <a:xfrm>
            <a:off x="55435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E0D0A"/>
          </a:solidFill>
          <a:ln/>
        </p:spPr>
      </p:sp>
      <p:sp>
        <p:nvSpPr>
          <p:cNvPr id="7" name="Text 5"/>
          <p:cNvSpPr/>
          <p:nvPr/>
        </p:nvSpPr>
        <p:spPr>
          <a:xfrm>
            <a:off x="4895850" y="3133725"/>
            <a:ext cx="23888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5B6B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التعافي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895850" y="3290888"/>
            <a:ext cx="23888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كيف تشعر اليوم؟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876800" y="3757613"/>
            <a:ext cx="2209800" cy="895350"/>
          </a:xfrm>
          <a:prstGeom prst="roundRect">
            <a:avLst>
              <a:gd name="adj" fmla="val 17021"/>
            </a:avLst>
          </a:prstGeom>
          <a:solidFill>
            <a:srgbClr val="FFFFFF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3910013"/>
            <a:ext cx="2095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B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جودة النوم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598965" y="4176712"/>
            <a:ext cx="335235" cy="323850"/>
          </a:xfrm>
          <a:prstGeom prst="roundRect">
            <a:avLst>
              <a:gd name="adj" fmla="val 26471"/>
            </a:avLst>
          </a:prstGeom>
          <a:solidFill>
            <a:srgbClr val="159AA0"/>
          </a:solidFill>
          <a:ln/>
        </p:spPr>
      </p:sp>
      <p:sp>
        <p:nvSpPr>
          <p:cNvPr id="12" name="Shape 10"/>
          <p:cNvSpPr/>
          <p:nvPr/>
        </p:nvSpPr>
        <p:spPr>
          <a:xfrm>
            <a:off x="6206505" y="4176712"/>
            <a:ext cx="335310" cy="323850"/>
          </a:xfrm>
          <a:prstGeom prst="roundRect">
            <a:avLst>
              <a:gd name="adj" fmla="val 26471"/>
            </a:avLst>
          </a:prstGeom>
          <a:solidFill>
            <a:srgbClr val="159AA0"/>
          </a:solidFill>
          <a:ln/>
        </p:spPr>
      </p:sp>
      <p:sp>
        <p:nvSpPr>
          <p:cNvPr id="13" name="Shape 11"/>
          <p:cNvSpPr/>
          <p:nvPr/>
        </p:nvSpPr>
        <p:spPr>
          <a:xfrm>
            <a:off x="5814120" y="4176712"/>
            <a:ext cx="335235" cy="323850"/>
          </a:xfrm>
          <a:prstGeom prst="roundRect">
            <a:avLst>
              <a:gd name="adj" fmla="val 26471"/>
            </a:avLst>
          </a:prstGeom>
          <a:solidFill>
            <a:srgbClr val="159AA0"/>
          </a:solidFill>
          <a:ln/>
        </p:spPr>
      </p:sp>
      <p:sp>
        <p:nvSpPr>
          <p:cNvPr id="14" name="Shape 12"/>
          <p:cNvSpPr/>
          <p:nvPr/>
        </p:nvSpPr>
        <p:spPr>
          <a:xfrm>
            <a:off x="5421660" y="4176712"/>
            <a:ext cx="335310" cy="323850"/>
          </a:xfrm>
          <a:prstGeom prst="roundRect">
            <a:avLst>
              <a:gd name="adj" fmla="val 26471"/>
            </a:avLst>
          </a:prstGeom>
          <a:solidFill>
            <a:srgbClr val="DDE4E3"/>
          </a:solidFill>
          <a:ln/>
        </p:spPr>
      </p:sp>
      <p:sp>
        <p:nvSpPr>
          <p:cNvPr id="15" name="Shape 13"/>
          <p:cNvSpPr/>
          <p:nvPr/>
        </p:nvSpPr>
        <p:spPr>
          <a:xfrm>
            <a:off x="5029200" y="4176712"/>
            <a:ext cx="335310" cy="323850"/>
          </a:xfrm>
          <a:prstGeom prst="roundRect">
            <a:avLst>
              <a:gd name="adj" fmla="val 26471"/>
            </a:avLst>
          </a:prstGeom>
          <a:solidFill>
            <a:srgbClr val="DDE4E3"/>
          </a:solidFill>
          <a:ln/>
        </p:spPr>
      </p:sp>
      <p:sp>
        <p:nvSpPr>
          <p:cNvPr id="16" name="Shape 14"/>
          <p:cNvSpPr/>
          <p:nvPr/>
        </p:nvSpPr>
        <p:spPr>
          <a:xfrm>
            <a:off x="4876800" y="4767263"/>
            <a:ext cx="2209800" cy="733425"/>
          </a:xfrm>
          <a:prstGeom prst="roundRect">
            <a:avLst>
              <a:gd name="adj" fmla="val 20779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0" y="4919663"/>
            <a:ext cx="20955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5B6B6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آلام العضلات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029200" y="5148263"/>
            <a:ext cx="20955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خفيفة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876800" y="5614988"/>
            <a:ext cx="2209800" cy="404813"/>
          </a:xfrm>
          <a:prstGeom prst="roundRect">
            <a:avLst>
              <a:gd name="adj" fmla="val 32941"/>
            </a:avLst>
          </a:prstGeom>
          <a:solidFill>
            <a:srgbClr val="159AA0">
              <a:alpha val="10000"/>
            </a:srgbClr>
          </a:solidFill>
          <a:ln w="9525">
            <a:solidFill>
              <a:srgbClr val="159AA0">
                <a:alpha val="3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00625" y="5738813"/>
            <a:ext cx="203835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" dirty="0">
                <a:solidFill>
                  <a:srgbClr val="0F71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مبني على تقييمك — ليس قياسًا طبّيًا.</a:t>
            </a:r>
            <a:endParaRPr lang="en-US" sz="825" dirty="0"/>
          </a:p>
        </p:txBody>
      </p:sp>
      <p:sp>
        <p:nvSpPr>
          <p:cNvPr id="21" name="Text 19"/>
          <p:cNvSpPr/>
          <p:nvPr/>
        </p:nvSpPr>
        <p:spPr>
          <a:xfrm>
            <a:off x="5467276" y="8734425"/>
            <a:ext cx="11050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37 · التعافي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77724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848600" y="2714625"/>
            <a:ext cx="2590800" cy="5791200"/>
          </a:xfrm>
          <a:prstGeom prst="roundRect">
            <a:avLst>
              <a:gd name="adj" fmla="val 11397"/>
            </a:avLst>
          </a:prstGeom>
          <a:solidFill>
            <a:srgbClr val="EDE8E0"/>
          </a:solidFill>
          <a:ln/>
        </p:spPr>
      </p:sp>
      <p:sp>
        <p:nvSpPr>
          <p:cNvPr id="24" name="Shape 22"/>
          <p:cNvSpPr/>
          <p:nvPr/>
        </p:nvSpPr>
        <p:spPr>
          <a:xfrm>
            <a:off x="87058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E0D0A"/>
          </a:solidFill>
          <a:ln/>
        </p:spPr>
      </p:sp>
      <p:sp>
        <p:nvSpPr>
          <p:cNvPr id="25" name="Text 23"/>
          <p:cNvSpPr/>
          <p:nvPr/>
        </p:nvSpPr>
        <p:spPr>
          <a:xfrm>
            <a:off x="8058150" y="3133725"/>
            <a:ext cx="23888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التغذية · اليوم</a:t>
            </a:r>
            <a:endParaRPr lang="en-US" sz="825" dirty="0"/>
          </a:p>
        </p:txBody>
      </p:sp>
      <p:sp>
        <p:nvSpPr>
          <p:cNvPr id="26" name="Text 24"/>
          <p:cNvSpPr/>
          <p:nvPr/>
        </p:nvSpPr>
        <p:spPr>
          <a:xfrm>
            <a:off x="8058150" y="3290888"/>
            <a:ext cx="23888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١٬٤٢٠ / ٢٬١٠٠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8058150" y="3605213"/>
            <a:ext cx="23888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D99400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سعرة · تقدير</a:t>
            </a:r>
            <a:endParaRPr lang="en-US" sz="825" dirty="0"/>
          </a:p>
        </p:txBody>
      </p:sp>
      <p:sp>
        <p:nvSpPr>
          <p:cNvPr id="28" name="Shape 26"/>
          <p:cNvSpPr/>
          <p:nvPr/>
        </p:nvSpPr>
        <p:spPr>
          <a:xfrm>
            <a:off x="9563100" y="3895725"/>
            <a:ext cx="685800" cy="528638"/>
          </a:xfrm>
          <a:prstGeom prst="roundRect">
            <a:avLst>
              <a:gd name="adj" fmla="val 23423"/>
            </a:avLst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629775" y="4000500"/>
            <a:ext cx="552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6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٩٨غ</a:t>
            </a:r>
            <a:endParaRPr lang="en-US" sz="1125" dirty="0"/>
          </a:p>
        </p:txBody>
      </p:sp>
      <p:sp>
        <p:nvSpPr>
          <p:cNvPr id="30" name="Text 28"/>
          <p:cNvSpPr/>
          <p:nvPr/>
        </p:nvSpPr>
        <p:spPr>
          <a:xfrm>
            <a:off x="9629775" y="4191000"/>
            <a:ext cx="5524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بروتين</a:t>
            </a:r>
            <a:endParaRPr lang="en-US" sz="675" dirty="0"/>
          </a:p>
        </p:txBody>
      </p:sp>
      <p:sp>
        <p:nvSpPr>
          <p:cNvPr id="31" name="Shape 29"/>
          <p:cNvSpPr/>
          <p:nvPr/>
        </p:nvSpPr>
        <p:spPr>
          <a:xfrm>
            <a:off x="8801100" y="3895725"/>
            <a:ext cx="685800" cy="528638"/>
          </a:xfrm>
          <a:prstGeom prst="roundRect">
            <a:avLst>
              <a:gd name="adj" fmla="val 23423"/>
            </a:avLst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8867775" y="4000500"/>
            <a:ext cx="552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6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١٦٠غ</a:t>
            </a:r>
            <a:endParaRPr lang="en-US" sz="1125" dirty="0"/>
          </a:p>
        </p:txBody>
      </p:sp>
      <p:sp>
        <p:nvSpPr>
          <p:cNvPr id="33" name="Text 31"/>
          <p:cNvSpPr/>
          <p:nvPr/>
        </p:nvSpPr>
        <p:spPr>
          <a:xfrm>
            <a:off x="8867775" y="4191000"/>
            <a:ext cx="5524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كارب</a:t>
            </a:r>
            <a:endParaRPr lang="en-US" sz="675" dirty="0"/>
          </a:p>
        </p:txBody>
      </p:sp>
      <p:sp>
        <p:nvSpPr>
          <p:cNvPr id="34" name="Shape 32"/>
          <p:cNvSpPr/>
          <p:nvPr/>
        </p:nvSpPr>
        <p:spPr>
          <a:xfrm>
            <a:off x="8039100" y="3895725"/>
            <a:ext cx="685800" cy="528638"/>
          </a:xfrm>
          <a:prstGeom prst="roundRect">
            <a:avLst>
              <a:gd name="adj" fmla="val 23423"/>
            </a:avLst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8105775" y="4000500"/>
            <a:ext cx="5524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6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٤٥غ</a:t>
            </a:r>
            <a:endParaRPr lang="en-US" sz="1125" dirty="0"/>
          </a:p>
        </p:txBody>
      </p:sp>
      <p:sp>
        <p:nvSpPr>
          <p:cNvPr id="36" name="Text 34"/>
          <p:cNvSpPr/>
          <p:nvPr/>
        </p:nvSpPr>
        <p:spPr>
          <a:xfrm>
            <a:off x="8105775" y="4191000"/>
            <a:ext cx="55245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دهون</a:t>
            </a:r>
            <a:endParaRPr lang="en-US" sz="675" dirty="0"/>
          </a:p>
        </p:txBody>
      </p:sp>
      <p:sp>
        <p:nvSpPr>
          <p:cNvPr id="37" name="Shape 35"/>
          <p:cNvSpPr/>
          <p:nvPr/>
        </p:nvSpPr>
        <p:spPr>
          <a:xfrm>
            <a:off x="8039100" y="4529138"/>
            <a:ext cx="2209800" cy="561975"/>
          </a:xfrm>
          <a:prstGeom prst="roundRect">
            <a:avLst>
              <a:gd name="adj" fmla="val 23729"/>
            </a:avLst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9566002" y="4652963"/>
            <a:ext cx="635273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دجاج مشوي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9566002" y="4824413"/>
            <a:ext cx="635273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٢٠٠غ · تقدير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8162925" y="4726781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16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٣٣٠</a:t>
            </a:r>
            <a:endParaRPr lang="en-US" sz="975" dirty="0"/>
          </a:p>
        </p:txBody>
      </p:sp>
      <p:sp>
        <p:nvSpPr>
          <p:cNvPr id="41" name="Shape 39"/>
          <p:cNvSpPr/>
          <p:nvPr/>
        </p:nvSpPr>
        <p:spPr>
          <a:xfrm>
            <a:off x="8039100" y="5195888"/>
            <a:ext cx="2209800" cy="414338"/>
          </a:xfrm>
          <a:prstGeom prst="roundRect">
            <a:avLst>
              <a:gd name="adj" fmla="val 27586"/>
            </a:avLst>
          </a:prstGeom>
          <a:solidFill>
            <a:srgbClr val="16140F"/>
          </a:solidFill>
          <a:ln/>
        </p:spPr>
      </p:sp>
      <p:sp>
        <p:nvSpPr>
          <p:cNvPr id="42" name="Text 40"/>
          <p:cNvSpPr/>
          <p:nvPr/>
        </p:nvSpPr>
        <p:spPr>
          <a:xfrm>
            <a:off x="8115300" y="5310188"/>
            <a:ext cx="20574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＋ أضف وجبة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8629576" y="8734425"/>
            <a:ext cx="110504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40 · التغذية</a:t>
            </a:r>
            <a:endParaRPr lang="en-US" sz="1125" dirty="0"/>
          </a:p>
        </p:txBody>
      </p:sp>
      <p:sp>
        <p:nvSpPr>
          <p:cNvPr id="44" name="Shape 42"/>
          <p:cNvSpPr/>
          <p:nvPr/>
        </p:nvSpPr>
        <p:spPr>
          <a:xfrm>
            <a:off x="109347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3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1010900" y="2714625"/>
            <a:ext cx="2590800" cy="5791200"/>
          </a:xfrm>
          <a:prstGeom prst="roundRect">
            <a:avLst>
              <a:gd name="adj" fmla="val 11397"/>
            </a:avLst>
          </a:prstGeom>
          <a:solidFill>
            <a:srgbClr val="141311"/>
          </a:solidFill>
          <a:ln/>
        </p:spPr>
      </p:sp>
      <p:sp>
        <p:nvSpPr>
          <p:cNvPr id="46" name="Shape 44"/>
          <p:cNvSpPr/>
          <p:nvPr/>
        </p:nvSpPr>
        <p:spPr>
          <a:xfrm>
            <a:off x="118681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47" name="Shape 45"/>
          <p:cNvSpPr/>
          <p:nvPr/>
        </p:nvSpPr>
        <p:spPr>
          <a:xfrm>
            <a:off x="11353800" y="4297189"/>
            <a:ext cx="1905000" cy="1238250"/>
          </a:xfrm>
          <a:prstGeom prst="roundRect">
            <a:avLst>
              <a:gd name="adj" fmla="val 12308"/>
            </a:avLst>
          </a:prstGeom>
          <a:ln w="19050">
            <a:solidFill>
              <a:srgbClr val="FFFFFF">
                <a:alpha val="20000"/>
              </a:srgbClr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1334750" y="4316239"/>
            <a:ext cx="1943100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850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📷</a:t>
            </a:r>
            <a:endParaRPr lang="en-US" sz="2850" dirty="0"/>
          </a:p>
        </p:txBody>
      </p:sp>
      <p:sp>
        <p:nvSpPr>
          <p:cNvPr id="49" name="Text 47"/>
          <p:cNvSpPr/>
          <p:nvPr/>
        </p:nvSpPr>
        <p:spPr>
          <a:xfrm>
            <a:off x="11323785" y="5725939"/>
            <a:ext cx="1965104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75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امسح الباركود</a:t>
            </a:r>
            <a:endParaRPr lang="en-US" sz="1275" dirty="0"/>
          </a:p>
        </p:txBody>
      </p:sp>
      <p:sp>
        <p:nvSpPr>
          <p:cNvPr id="50" name="Text 48"/>
          <p:cNvSpPr/>
          <p:nvPr/>
        </p:nvSpPr>
        <p:spPr>
          <a:xfrm>
            <a:off x="11323785" y="6025976"/>
            <a:ext cx="1965104" cy="2209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900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أو ابحث بالاسم — نطلب الكاميرا الآن فقط.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11201400" y="7791450"/>
            <a:ext cx="2209800" cy="466725"/>
          </a:xfrm>
          <a:prstGeom prst="roundRect">
            <a:avLst>
              <a:gd name="adj" fmla="val 26531"/>
            </a:avLst>
          </a:prstGeom>
          <a:solidFill>
            <a:srgbClr val="F0512A"/>
          </a:solidFill>
          <a:ln/>
        </p:spPr>
      </p:sp>
      <p:sp>
        <p:nvSpPr>
          <p:cNvPr id="52" name="Text 50"/>
          <p:cNvSpPr/>
          <p:nvPr/>
        </p:nvSpPr>
        <p:spPr>
          <a:xfrm>
            <a:off x="11296650" y="7924800"/>
            <a:ext cx="201930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بحث يدوي بدلًا من ذلك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1834738" y="8734425"/>
            <a:ext cx="10193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47 · باركود</a:t>
            </a:r>
            <a:endParaRPr lang="en-US" sz="11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62000"/>
            <a:ext cx="182308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F089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AREA · 48–62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857250" y="1028700"/>
            <a:ext cx="182308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التقدّم والذكاء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6101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4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86300" y="2714625"/>
            <a:ext cx="2590800" cy="5791200"/>
          </a:xfrm>
          <a:prstGeom prst="roundRect">
            <a:avLst>
              <a:gd name="adj" fmla="val 11397"/>
            </a:avLst>
          </a:prstGeom>
          <a:solidFill>
            <a:srgbClr val="EDE8E0"/>
          </a:solidFill>
          <a:ln/>
        </p:spPr>
      </p:sp>
      <p:sp>
        <p:nvSpPr>
          <p:cNvPr id="6" name="Shape 4"/>
          <p:cNvSpPr/>
          <p:nvPr/>
        </p:nvSpPr>
        <p:spPr>
          <a:xfrm>
            <a:off x="55435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E0D0A"/>
          </a:solidFill>
          <a:ln/>
        </p:spPr>
      </p:sp>
      <p:sp>
        <p:nvSpPr>
          <p:cNvPr id="7" name="Text 5"/>
          <p:cNvSpPr/>
          <p:nvPr/>
        </p:nvSpPr>
        <p:spPr>
          <a:xfrm>
            <a:off x="4895850" y="3133725"/>
            <a:ext cx="2388870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التقدّم · القوّة</a:t>
            </a:r>
            <a:endParaRPr lang="en-US" sz="825" dirty="0"/>
          </a:p>
        </p:txBody>
      </p:sp>
      <p:sp>
        <p:nvSpPr>
          <p:cNvPr id="8" name="Text 6"/>
          <p:cNvSpPr/>
          <p:nvPr/>
        </p:nvSpPr>
        <p:spPr>
          <a:xfrm>
            <a:off x="4895850" y="3290888"/>
            <a:ext cx="2388870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بنش برس</a:t>
            </a:r>
            <a:endParaRPr lang="en-US" sz="1650" dirty="0"/>
          </a:p>
        </p:txBody>
      </p:sp>
      <p:sp>
        <p:nvSpPr>
          <p:cNvPr id="9" name="Shape 7"/>
          <p:cNvSpPr/>
          <p:nvPr/>
        </p:nvSpPr>
        <p:spPr>
          <a:xfrm>
            <a:off x="4876800" y="3757613"/>
            <a:ext cx="2209800" cy="1709738"/>
          </a:xfrm>
          <a:prstGeom prst="roundRect">
            <a:avLst>
              <a:gd name="adj" fmla="val 10028"/>
            </a:avLst>
          </a:prstGeom>
          <a:solidFill>
            <a:srgbClr val="FFFFFF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0" y="3910013"/>
            <a:ext cx="1905000" cy="11430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729264" y="5172075"/>
            <a:ext cx="28113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مارس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5029200" y="5172075"/>
            <a:ext cx="241176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يوليو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6019800" y="5572125"/>
            <a:ext cx="1066800" cy="561975"/>
          </a:xfrm>
          <a:prstGeom prst="roundRect">
            <a:avLst>
              <a:gd name="adj" fmla="val 22034"/>
            </a:avLst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6096000" y="5686425"/>
            <a:ext cx="9144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6140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٨٢٫٥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096000" y="5891213"/>
            <a:ext cx="9144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أفضل رقم كجم</a:t>
            </a:r>
            <a:endParaRPr lang="en-US" sz="675" dirty="0"/>
          </a:p>
        </p:txBody>
      </p:sp>
      <p:sp>
        <p:nvSpPr>
          <p:cNvPr id="16" name="Shape 13"/>
          <p:cNvSpPr/>
          <p:nvPr/>
        </p:nvSpPr>
        <p:spPr>
          <a:xfrm>
            <a:off x="4876800" y="5572125"/>
            <a:ext cx="1066800" cy="561975"/>
          </a:xfrm>
          <a:prstGeom prst="roundRect">
            <a:avLst>
              <a:gd name="adj" fmla="val 22034"/>
            </a:avLst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4953000" y="5686425"/>
            <a:ext cx="91440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D57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+٨٪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4953000" y="5891213"/>
            <a:ext cx="914400" cy="1666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67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آخر ٣ أشهر</a:t>
            </a:r>
            <a:endParaRPr lang="en-US" sz="675" dirty="0"/>
          </a:p>
        </p:txBody>
      </p:sp>
      <p:sp>
        <p:nvSpPr>
          <p:cNvPr id="19" name="Text 16"/>
          <p:cNvSpPr/>
          <p:nvPr/>
        </p:nvSpPr>
        <p:spPr>
          <a:xfrm>
            <a:off x="5510138" y="8734425"/>
            <a:ext cx="10193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48 · التقدّم</a:t>
            </a:r>
            <a:endParaRPr lang="en-US" sz="1125" dirty="0"/>
          </a:p>
        </p:txBody>
      </p:sp>
      <p:sp>
        <p:nvSpPr>
          <p:cNvPr id="20" name="Shape 17"/>
          <p:cNvSpPr/>
          <p:nvPr/>
        </p:nvSpPr>
        <p:spPr>
          <a:xfrm>
            <a:off x="77724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45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7848600" y="2714625"/>
            <a:ext cx="2590800" cy="5791200"/>
          </a:xfrm>
          <a:prstGeom prst="roundRect">
            <a:avLst>
              <a:gd name="adj" fmla="val 11397"/>
            </a:avLst>
          </a:prstGeom>
          <a:gradFill rotWithShape="1">
            <a:gsLst>
              <a:gs pos="0">
                <a:srgbClr val="12291C">
                  <a:alpha val="100000"/>
                </a:srgbClr>
              </a:gs>
              <a:gs pos="100000">
                <a:srgbClr val="141311">
                  <a:alpha val="100000"/>
                </a:srgbClr>
              </a:gs>
            </a:gsLst>
            <a:lin ang="5280000" scaled="0"/>
          </a:gradFill>
          <a:ln/>
        </p:spPr>
      </p:sp>
      <p:sp>
        <p:nvSpPr>
          <p:cNvPr id="22" name="Shape 19"/>
          <p:cNvSpPr/>
          <p:nvPr/>
        </p:nvSpPr>
        <p:spPr>
          <a:xfrm>
            <a:off x="87058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3" name="Text 20"/>
          <p:cNvSpPr/>
          <p:nvPr/>
        </p:nvSpPr>
        <p:spPr>
          <a:xfrm>
            <a:off x="8877300" y="4541044"/>
            <a:ext cx="6096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🏆</a:t>
            </a:r>
            <a:endParaRPr lang="en-US" sz="4200" dirty="0"/>
          </a:p>
        </p:txBody>
      </p:sp>
      <p:sp>
        <p:nvSpPr>
          <p:cNvPr id="24" name="Text 21"/>
          <p:cNvSpPr/>
          <p:nvPr/>
        </p:nvSpPr>
        <p:spPr>
          <a:xfrm>
            <a:off x="8270435" y="5493544"/>
            <a:ext cx="1747205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FBE7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رقم قياسي جديد!</a:t>
            </a:r>
            <a:endParaRPr lang="en-US" sz="1800" dirty="0"/>
          </a:p>
        </p:txBody>
      </p:sp>
      <p:sp>
        <p:nvSpPr>
          <p:cNvPr id="25" name="Text 22"/>
          <p:cNvSpPr/>
          <p:nvPr/>
        </p:nvSpPr>
        <p:spPr>
          <a:xfrm>
            <a:off x="8270435" y="5912644"/>
            <a:ext cx="1747205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بنش برس · ٨٢٫٥ كجم</a:t>
            </a:r>
            <a:endParaRPr lang="en-US" sz="1125" dirty="0"/>
          </a:p>
        </p:txBody>
      </p:sp>
      <p:sp>
        <p:nvSpPr>
          <p:cNvPr id="26" name="Shape 23"/>
          <p:cNvSpPr/>
          <p:nvPr/>
        </p:nvSpPr>
        <p:spPr>
          <a:xfrm>
            <a:off x="8591550" y="6279356"/>
            <a:ext cx="1104974" cy="400050"/>
          </a:xfrm>
          <a:prstGeom prst="roundRect">
            <a:avLst>
              <a:gd name="adj" fmla="val 30952"/>
            </a:avLst>
          </a:prstGeom>
          <a:solidFill>
            <a:srgbClr val="FFFFFF">
              <a:alpha val="6000"/>
            </a:srgbClr>
          </a:solidFill>
          <a:ln/>
        </p:spPr>
      </p:sp>
      <p:sp>
        <p:nvSpPr>
          <p:cNvPr id="27" name="Text 24"/>
          <p:cNvSpPr/>
          <p:nvPr/>
        </p:nvSpPr>
        <p:spPr>
          <a:xfrm>
            <a:off x="8763000" y="6393656"/>
            <a:ext cx="83827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 سجلّ تمارينك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8715301" y="8734425"/>
            <a:ext cx="9335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53 · إنجاز</a:t>
            </a:r>
            <a:endParaRPr lang="en-US" sz="1125" dirty="0"/>
          </a:p>
        </p:txBody>
      </p:sp>
      <p:sp>
        <p:nvSpPr>
          <p:cNvPr id="29" name="Shape 26"/>
          <p:cNvSpPr/>
          <p:nvPr/>
        </p:nvSpPr>
        <p:spPr>
          <a:xfrm>
            <a:off x="109347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45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11010900" y="2714625"/>
            <a:ext cx="2590800" cy="5791200"/>
          </a:xfrm>
          <a:prstGeom prst="roundRect">
            <a:avLst>
              <a:gd name="adj" fmla="val 11397"/>
            </a:avLst>
          </a:prstGeom>
          <a:solidFill>
            <a:srgbClr val="EDE8E0"/>
          </a:solidFill>
          <a:ln/>
        </p:spPr>
      </p:sp>
      <p:sp>
        <p:nvSpPr>
          <p:cNvPr id="31" name="Shape 28"/>
          <p:cNvSpPr/>
          <p:nvPr/>
        </p:nvSpPr>
        <p:spPr>
          <a:xfrm>
            <a:off x="118681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E0D0A"/>
          </a:solidFill>
          <a:ln/>
        </p:spPr>
      </p:sp>
      <p:sp>
        <p:nvSpPr>
          <p:cNvPr id="32" name="Shape 29"/>
          <p:cNvSpPr/>
          <p:nvPr/>
        </p:nvSpPr>
        <p:spPr>
          <a:xfrm>
            <a:off x="13087350" y="3133725"/>
            <a:ext cx="304800" cy="304800"/>
          </a:xfrm>
          <a:prstGeom prst="roundRect">
            <a:avLst>
              <a:gd name="adj" fmla="val 31250"/>
            </a:avLst>
          </a:prstGeom>
          <a:gradFill rotWithShape="1">
            <a:gsLst>
              <a:gs pos="0">
                <a:srgbClr val="FF6A3D">
                  <a:alpha val="100000"/>
                </a:srgbClr>
              </a:gs>
              <a:gs pos="100000">
                <a:srgbClr val="E0431C">
                  <a:alpha val="100000"/>
                </a:srgbClr>
              </a:gs>
            </a:gsLst>
            <a:lin ang="3600000" scaled="0"/>
          </a:gradFill>
          <a:ln/>
        </p:spPr>
      </p:sp>
      <p:sp>
        <p:nvSpPr>
          <p:cNvPr id="33" name="Text 30"/>
          <p:cNvSpPr/>
          <p:nvPr/>
        </p:nvSpPr>
        <p:spPr>
          <a:xfrm>
            <a:off x="12278469" y="3157538"/>
            <a:ext cx="789831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مدرّب قِمّة</a:t>
            </a:r>
            <a:endParaRPr lang="en-US" sz="1350" dirty="0"/>
          </a:p>
        </p:txBody>
      </p:sp>
      <p:sp>
        <p:nvSpPr>
          <p:cNvPr id="34" name="Shape 31"/>
          <p:cNvSpPr/>
          <p:nvPr/>
        </p:nvSpPr>
        <p:spPr>
          <a:xfrm>
            <a:off x="11631960" y="3590925"/>
            <a:ext cx="1798290" cy="585788"/>
          </a:xfrm>
          <a:prstGeom prst="roundRect">
            <a:avLst>
              <a:gd name="adj" fmla="val 26016"/>
            </a:avLst>
          </a:prstGeom>
          <a:solidFill>
            <a:srgbClr val="FFFFFF"/>
          </a:solidFill>
          <a:ln/>
        </p:spPr>
      </p:sp>
      <p:sp>
        <p:nvSpPr>
          <p:cNvPr id="35" name="Text 32"/>
          <p:cNvSpPr/>
          <p:nvPr/>
        </p:nvSpPr>
        <p:spPr>
          <a:xfrm>
            <a:off x="11765310" y="3705225"/>
            <a:ext cx="1607790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351"/>
              </a:lnSpc>
              <a:buNone/>
            </a:pPr>
            <a:r>
              <a:rPr lang="en-US" sz="938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تمرينك اليوم يستهدف الصدر. تريد بديلًا للبنش؟</a:t>
            </a:r>
            <a:endParaRPr lang="en-US" sz="938" dirty="0"/>
          </a:p>
        </p:txBody>
      </p:sp>
      <p:sp>
        <p:nvSpPr>
          <p:cNvPr id="36" name="Shape 33"/>
          <p:cNvSpPr/>
          <p:nvPr/>
        </p:nvSpPr>
        <p:spPr>
          <a:xfrm>
            <a:off x="11182350" y="4271963"/>
            <a:ext cx="1226493" cy="404813"/>
          </a:xfrm>
          <a:prstGeom prst="roundRect">
            <a:avLst>
              <a:gd name="adj" fmla="val 37647"/>
            </a:avLst>
          </a:prstGeom>
          <a:solidFill>
            <a:srgbClr val="16140F"/>
          </a:solidFill>
          <a:ln/>
        </p:spPr>
      </p:sp>
      <p:sp>
        <p:nvSpPr>
          <p:cNvPr id="37" name="Text 34"/>
          <p:cNvSpPr/>
          <p:nvPr/>
        </p:nvSpPr>
        <p:spPr>
          <a:xfrm>
            <a:off x="11315700" y="4386263"/>
            <a:ext cx="1035993" cy="2143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نعم، عندي ألم بالكتف</a:t>
            </a:r>
            <a:endParaRPr lang="en-US" sz="938" dirty="0"/>
          </a:p>
        </p:txBody>
      </p:sp>
      <p:sp>
        <p:nvSpPr>
          <p:cNvPr id="38" name="Shape 35"/>
          <p:cNvSpPr/>
          <p:nvPr/>
        </p:nvSpPr>
        <p:spPr>
          <a:xfrm>
            <a:off x="11519595" y="4772025"/>
            <a:ext cx="1910655" cy="585788"/>
          </a:xfrm>
          <a:prstGeom prst="roundRect">
            <a:avLst>
              <a:gd name="adj" fmla="val 26016"/>
            </a:avLst>
          </a:prstGeom>
          <a:solidFill>
            <a:srgbClr val="FFFFFF"/>
          </a:solidFill>
          <a:ln/>
        </p:spPr>
      </p:sp>
      <p:sp>
        <p:nvSpPr>
          <p:cNvPr id="39" name="Text 36"/>
          <p:cNvSpPr/>
          <p:nvPr/>
        </p:nvSpPr>
        <p:spPr>
          <a:xfrm>
            <a:off x="11652945" y="4886325"/>
            <a:ext cx="1720155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1351"/>
              </a:lnSpc>
              <a:buNone/>
            </a:pPr>
            <a:r>
              <a:rPr lang="en-US" sz="938" dirty="0">
                <a:solidFill>
                  <a:srgbClr val="16140F"/>
                </a:solidFill>
                <a:highlight>
                  <a:srgbClr val="FFFFFF"/>
                </a:highlight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أقترح ضغط بالدمبل بزاوية محايدة. </a:t>
            </a:r>
            <a:pPr algn="l" indent="0" marL="0">
              <a:lnSpc>
                <a:spcPct val="101351"/>
              </a:lnSpc>
              <a:buNone/>
            </a:pPr>
            <a:r>
              <a:rPr lang="en-US" sz="938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لست بديلًا عن الطبيب.</a:t>
            </a:r>
            <a:endParaRPr lang="en-US" sz="938" dirty="0"/>
          </a:p>
        </p:txBody>
      </p:sp>
      <p:sp>
        <p:nvSpPr>
          <p:cNvPr id="40" name="Shape 37"/>
          <p:cNvSpPr/>
          <p:nvPr/>
        </p:nvSpPr>
        <p:spPr>
          <a:xfrm>
            <a:off x="11182350" y="7820025"/>
            <a:ext cx="2247900" cy="438150"/>
          </a:xfrm>
          <a:prstGeom prst="roundRect">
            <a:avLst>
              <a:gd name="adj" fmla="val 30435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11315700" y="7953375"/>
            <a:ext cx="2057400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اكتب رسالة…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11577489" y="8734425"/>
            <a:ext cx="1603303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A79F94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57 · المدرّب الذكي</a:t>
            </a:r>
            <a:endParaRPr lang="en-US" sz="11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57250" y="762000"/>
            <a:ext cx="1823085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spc="158" kern="0" dirty="0">
                <a:solidFill>
                  <a:srgbClr val="D843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AREA · 63–80</a:t>
            </a:r>
            <a:endParaRPr lang="en-US" sz="1125" dirty="0"/>
          </a:p>
        </p:txBody>
      </p:sp>
      <p:sp>
        <p:nvSpPr>
          <p:cNvPr id="3" name="Text 1"/>
          <p:cNvSpPr/>
          <p:nvPr/>
        </p:nvSpPr>
        <p:spPr>
          <a:xfrm>
            <a:off x="857250" y="1028700"/>
            <a:ext cx="1823085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2A251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الإعدادات وحالات النظام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6101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3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686300" y="2714625"/>
            <a:ext cx="2590800" cy="5791200"/>
          </a:xfrm>
          <a:prstGeom prst="roundRect">
            <a:avLst>
              <a:gd name="adj" fmla="val 11397"/>
            </a:avLst>
          </a:prstGeom>
          <a:solidFill>
            <a:srgbClr val="EDE8E0"/>
          </a:solidFill>
          <a:ln/>
        </p:spPr>
      </p:sp>
      <p:sp>
        <p:nvSpPr>
          <p:cNvPr id="6" name="Shape 4"/>
          <p:cNvSpPr/>
          <p:nvPr/>
        </p:nvSpPr>
        <p:spPr>
          <a:xfrm>
            <a:off x="55435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E0D0A"/>
          </a:solidFill>
          <a:ln/>
        </p:spPr>
      </p:sp>
      <p:sp>
        <p:nvSpPr>
          <p:cNvPr id="7" name="Shape 5"/>
          <p:cNvSpPr/>
          <p:nvPr/>
        </p:nvSpPr>
        <p:spPr>
          <a:xfrm>
            <a:off x="6572250" y="3133725"/>
            <a:ext cx="495300" cy="495300"/>
          </a:xfrm>
          <a:prstGeom prst="ellipse">
            <a:avLst/>
          </a:prstGeom>
          <a:solidFill>
            <a:srgbClr val="16140F"/>
          </a:solidFill>
          <a:ln/>
        </p:spPr>
      </p:sp>
      <p:sp>
        <p:nvSpPr>
          <p:cNvPr id="8" name="Text 6"/>
          <p:cNvSpPr/>
          <p:nvPr/>
        </p:nvSpPr>
        <p:spPr>
          <a:xfrm>
            <a:off x="6534150" y="3133725"/>
            <a:ext cx="5715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645646" y="3174206"/>
            <a:ext cx="888504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فهد العتيبي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645646" y="3431381"/>
            <a:ext cx="888504" cy="1952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82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عضو منذ مارس ٢٠٢٥</a:t>
            </a:r>
            <a:endParaRPr lang="en-US" sz="825" dirty="0"/>
          </a:p>
        </p:txBody>
      </p:sp>
      <p:sp>
        <p:nvSpPr>
          <p:cNvPr id="11" name="Shape 9"/>
          <p:cNvSpPr/>
          <p:nvPr/>
        </p:nvSpPr>
        <p:spPr>
          <a:xfrm>
            <a:off x="4876800" y="3781425"/>
            <a:ext cx="2209800" cy="452438"/>
          </a:xfrm>
          <a:prstGeom prst="roundRect">
            <a:avLst>
              <a:gd name="adj" fmla="val 27368"/>
            </a:avLst>
          </a:prstGeom>
          <a:solidFill>
            <a:srgbClr val="FFFFFF"/>
          </a:solidFill>
          <a:ln/>
        </p:spPr>
      </p:sp>
      <p:sp>
        <p:nvSpPr>
          <p:cNvPr id="12" name="Text 10"/>
          <p:cNvSpPr/>
          <p:nvPr/>
        </p:nvSpPr>
        <p:spPr>
          <a:xfrm>
            <a:off x="6735142" y="3914775"/>
            <a:ext cx="294308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اللغة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5010150" y="3914775"/>
            <a:ext cx="52261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العربية ←</a:t>
            </a:r>
            <a:endParaRPr lang="en-US" sz="975" dirty="0"/>
          </a:p>
        </p:txBody>
      </p:sp>
      <p:sp>
        <p:nvSpPr>
          <p:cNvPr id="14" name="Shape 12"/>
          <p:cNvSpPr/>
          <p:nvPr/>
        </p:nvSpPr>
        <p:spPr>
          <a:xfrm>
            <a:off x="4876800" y="4329113"/>
            <a:ext cx="2209800" cy="452438"/>
          </a:xfrm>
          <a:prstGeom prst="roundRect">
            <a:avLst>
              <a:gd name="adj" fmla="val 27368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644506" y="4462463"/>
            <a:ext cx="384944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المظهر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5010150" y="4462463"/>
            <a:ext cx="47758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تلقائي ←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4876800" y="4876800"/>
            <a:ext cx="2209800" cy="452438"/>
          </a:xfrm>
          <a:prstGeom prst="roundRect">
            <a:avLst>
              <a:gd name="adj" fmla="val 27368"/>
            </a:avLst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5984007" y="5010150"/>
            <a:ext cx="1045443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الأذونات والخصوصية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5010150" y="5010150"/>
            <a:ext cx="200025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←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4876800" y="5424488"/>
            <a:ext cx="2209800" cy="452438"/>
          </a:xfrm>
          <a:prstGeom prst="roundRect">
            <a:avLst>
              <a:gd name="adj" fmla="val 27368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010150" y="5557838"/>
            <a:ext cx="20193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D23B2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حذف الحساب وكل البيانات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5553001" y="8734425"/>
            <a:ext cx="933524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63 · الملف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77724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848600" y="2714625"/>
            <a:ext cx="2590800" cy="5791200"/>
          </a:xfrm>
          <a:prstGeom prst="roundRect">
            <a:avLst>
              <a:gd name="adj" fmla="val 11397"/>
            </a:avLst>
          </a:prstGeom>
          <a:solidFill>
            <a:srgbClr val="141311"/>
          </a:solidFill>
          <a:ln/>
        </p:spPr>
      </p:sp>
      <p:sp>
        <p:nvSpPr>
          <p:cNvPr id="25" name="Shape 23"/>
          <p:cNvSpPr/>
          <p:nvPr/>
        </p:nvSpPr>
        <p:spPr>
          <a:xfrm>
            <a:off x="87058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00000"/>
          </a:solidFill>
          <a:ln/>
        </p:spPr>
      </p:sp>
      <p:sp>
        <p:nvSpPr>
          <p:cNvPr id="26" name="Shape 24"/>
          <p:cNvSpPr/>
          <p:nvPr/>
        </p:nvSpPr>
        <p:spPr>
          <a:xfrm>
            <a:off x="8829675" y="4590604"/>
            <a:ext cx="628650" cy="628650"/>
          </a:xfrm>
          <a:prstGeom prst="ellipse">
            <a:avLst/>
          </a:prstGeom>
          <a:solidFill>
            <a:srgbClr val="D99400">
              <a:alpha val="16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8791575" y="4590604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📡</a:t>
            </a:r>
            <a:endParaRPr lang="en-US" sz="2250" dirty="0"/>
          </a:p>
        </p:txBody>
      </p:sp>
      <p:sp>
        <p:nvSpPr>
          <p:cNvPr id="28" name="Text 26"/>
          <p:cNvSpPr/>
          <p:nvPr/>
        </p:nvSpPr>
        <p:spPr>
          <a:xfrm>
            <a:off x="8033385" y="5390704"/>
            <a:ext cx="222123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دون اتصال</a:t>
            </a:r>
            <a:endParaRPr lang="en-US" sz="1425" dirty="0"/>
          </a:p>
        </p:txBody>
      </p:sp>
      <p:sp>
        <p:nvSpPr>
          <p:cNvPr id="29" name="Text 27"/>
          <p:cNvSpPr/>
          <p:nvPr/>
        </p:nvSpPr>
        <p:spPr>
          <a:xfrm>
            <a:off x="8096250" y="5738366"/>
            <a:ext cx="2095500" cy="434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975" dirty="0">
                <a:solidFill>
                  <a:srgbClr val="A79F9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تعمل محليًا الآن — يُحفظ كل شيء ويُزامَن عند عودة الاتصال.</a:t>
            </a:r>
            <a:endParaRPr lang="en-US" sz="975" dirty="0"/>
          </a:p>
        </p:txBody>
      </p:sp>
      <p:sp>
        <p:nvSpPr>
          <p:cNvPr id="30" name="Shape 28"/>
          <p:cNvSpPr/>
          <p:nvPr/>
        </p:nvSpPr>
        <p:spPr>
          <a:xfrm>
            <a:off x="8652495" y="6305996"/>
            <a:ext cx="983084" cy="323850"/>
          </a:xfrm>
          <a:prstGeom prst="roundRect">
            <a:avLst>
              <a:gd name="adj" fmla="val 50000"/>
            </a:avLst>
          </a:prstGeom>
          <a:solidFill>
            <a:srgbClr val="1F9D57">
              <a:alpha val="16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8766795" y="6382196"/>
            <a:ext cx="75448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00" dirty="0">
                <a:solidFill>
                  <a:srgbClr val="3FBE7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● محفوظ محليًا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8543851" y="8734425"/>
            <a:ext cx="132032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75 · دون اتصال</a:t>
            </a:r>
            <a:endParaRPr lang="en-US" sz="1125" dirty="0"/>
          </a:p>
        </p:txBody>
      </p:sp>
      <p:sp>
        <p:nvSpPr>
          <p:cNvPr id="33" name="Shape 31"/>
          <p:cNvSpPr/>
          <p:nvPr/>
        </p:nvSpPr>
        <p:spPr>
          <a:xfrm>
            <a:off x="10934700" y="2638425"/>
            <a:ext cx="2743200" cy="5943600"/>
          </a:xfrm>
          <a:prstGeom prst="roundRect">
            <a:avLst>
              <a:gd name="adj" fmla="val 13194"/>
            </a:avLst>
          </a:prstGeom>
          <a:solidFill>
            <a:srgbClr val="000000"/>
          </a:solidFill>
          <a:ln/>
          <a:effectLst>
            <a:outerShdw sx="100000" sy="100000" kx="0" ky="0" algn="bl" rotWithShape="0" blurRad="571500" dist="228600" dir="540000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11010900" y="2714625"/>
            <a:ext cx="2590800" cy="5791200"/>
          </a:xfrm>
          <a:prstGeom prst="roundRect">
            <a:avLst>
              <a:gd name="adj" fmla="val 11397"/>
            </a:avLst>
          </a:prstGeom>
          <a:solidFill>
            <a:srgbClr val="EDE8E0"/>
          </a:solidFill>
          <a:ln/>
        </p:spPr>
      </p:sp>
      <p:sp>
        <p:nvSpPr>
          <p:cNvPr id="35" name="Shape 33"/>
          <p:cNvSpPr/>
          <p:nvPr/>
        </p:nvSpPr>
        <p:spPr>
          <a:xfrm>
            <a:off x="11868150" y="2809875"/>
            <a:ext cx="876300" cy="228600"/>
          </a:xfrm>
          <a:prstGeom prst="roundRect">
            <a:avLst>
              <a:gd name="adj" fmla="val 50000"/>
            </a:avLst>
          </a:prstGeom>
          <a:solidFill>
            <a:srgbClr val="0E0D0A"/>
          </a:solidFill>
          <a:ln/>
        </p:spPr>
      </p:sp>
      <p:sp>
        <p:nvSpPr>
          <p:cNvPr id="36" name="Shape 34"/>
          <p:cNvSpPr/>
          <p:nvPr/>
        </p:nvSpPr>
        <p:spPr>
          <a:xfrm>
            <a:off x="11991975" y="4312965"/>
            <a:ext cx="628650" cy="628650"/>
          </a:xfrm>
          <a:prstGeom prst="ellipse">
            <a:avLst/>
          </a:prstGeom>
          <a:solidFill>
            <a:srgbClr val="2A6CE0">
              <a:alpha val="12000"/>
            </a:srgbClr>
          </a:solidFill>
          <a:ln/>
        </p:spPr>
      </p:sp>
      <p:sp>
        <p:nvSpPr>
          <p:cNvPr id="37" name="Text 35"/>
          <p:cNvSpPr/>
          <p:nvPr/>
        </p:nvSpPr>
        <p:spPr>
          <a:xfrm>
            <a:off x="11953875" y="4312965"/>
            <a:ext cx="70485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🍽</a:t>
            </a:r>
            <a:endParaRPr lang="en-US" sz="2250" dirty="0"/>
          </a:p>
        </p:txBody>
      </p:sp>
      <p:sp>
        <p:nvSpPr>
          <p:cNvPr id="38" name="Text 36"/>
          <p:cNvSpPr/>
          <p:nvPr/>
        </p:nvSpPr>
        <p:spPr>
          <a:xfrm>
            <a:off x="11174730" y="5113065"/>
            <a:ext cx="22631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لا سجلّ غذائي بعد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11239500" y="5446440"/>
            <a:ext cx="2133600" cy="403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6667"/>
              </a:lnSpc>
              <a:buNone/>
            </a:pPr>
            <a:r>
              <a:rPr lang="en-US" sz="900" dirty="0">
                <a:solidFill>
                  <a:srgbClr val="8A827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ابدأ بأول وجبة — نشرح لماذا لا توجد بيانات، ثم نقترح ٤ إجراءات.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1277600" y="5983560"/>
            <a:ext cx="2057400" cy="414338"/>
          </a:xfrm>
          <a:prstGeom prst="roundRect">
            <a:avLst>
              <a:gd name="adj" fmla="val 27586"/>
            </a:avLst>
          </a:prstGeom>
          <a:solidFill>
            <a:srgbClr val="F0512A"/>
          </a:solidFill>
          <a:ln/>
        </p:spPr>
      </p:sp>
      <p:sp>
        <p:nvSpPr>
          <p:cNvPr id="41" name="Text 39"/>
          <p:cNvSpPr/>
          <p:nvPr/>
        </p:nvSpPr>
        <p:spPr>
          <a:xfrm>
            <a:off x="11353800" y="6097860"/>
            <a:ext cx="190500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＋ أضف وجبة</a:t>
            </a:r>
            <a:endParaRPr lang="en-US" sz="975" dirty="0"/>
          </a:p>
        </p:txBody>
      </p:sp>
      <p:sp>
        <p:nvSpPr>
          <p:cNvPr id="42" name="Shape 40"/>
          <p:cNvSpPr/>
          <p:nvPr/>
        </p:nvSpPr>
        <p:spPr>
          <a:xfrm>
            <a:off x="11277600" y="6474098"/>
            <a:ext cx="2057400" cy="433388"/>
          </a:xfrm>
          <a:prstGeom prst="roundRect">
            <a:avLst>
              <a:gd name="adj" fmla="val 26374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363325" y="6597923"/>
            <a:ext cx="18859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16140F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امسح باركود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11663288" y="8734425"/>
            <a:ext cx="1414626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76 · حالة فارغة</a:t>
            </a:r>
            <a:endParaRPr lang="en-US" sz="11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173926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F089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· MOTION &amp; HAPTICS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38250" y="1252538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الحركة لها وظيفة — لا زينة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38250" y="2509838"/>
            <a:ext cx="7800975" cy="3326606"/>
          </a:xfrm>
          <a:prstGeom prst="roundRect">
            <a:avLst>
              <a:gd name="adj" fmla="val 5154"/>
            </a:avLst>
          </a:prstGeom>
          <a:solidFill>
            <a:srgbClr val="1E1C17"/>
          </a:solidFill>
          <a:ln w="9525">
            <a:solidFill>
              <a:srgbClr val="3733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4475" y="2786063"/>
            <a:ext cx="79733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إتمام المجموعة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514475" y="3148013"/>
            <a:ext cx="797337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240ms · light haptic · reduced → cross-fade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514475" y="3448050"/>
            <a:ext cx="797337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1B4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البطاقة ترتفع، التالية تدخل، والزر يتحوّل إلى «راحة».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248775" y="2509838"/>
            <a:ext cx="7800975" cy="3326606"/>
          </a:xfrm>
          <a:prstGeom prst="roundRect">
            <a:avLst>
              <a:gd name="adj" fmla="val 5154"/>
            </a:avLst>
          </a:prstGeom>
          <a:solidFill>
            <a:srgbClr val="1E1C17"/>
          </a:solidFill>
          <a:ln w="9525">
            <a:solidFill>
              <a:srgbClr val="373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525000" y="2786063"/>
            <a:ext cx="79733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مؤقّت الراحة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525000" y="3148013"/>
            <a:ext cx="797337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last-3s pulse + haptic · reduced → numeric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525000" y="3448050"/>
            <a:ext cx="797337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1B4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الحلقة تتقلّص، وآخر ٣ ثوانٍ نبضة خفيفة.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38250" y="6045994"/>
            <a:ext cx="7800975" cy="3326606"/>
          </a:xfrm>
          <a:prstGeom prst="roundRect">
            <a:avLst>
              <a:gd name="adj" fmla="val 5154"/>
            </a:avLst>
          </a:prstGeom>
          <a:solidFill>
            <a:srgbClr val="1E1C17"/>
          </a:solidFill>
          <a:ln w="9525">
            <a:solidFill>
              <a:srgbClr val="3733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14475" y="6322219"/>
            <a:ext cx="79733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رقم قياسي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514475" y="6684169"/>
            <a:ext cx="797337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≤900ms · success haptic · reduced → static badge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14475" y="6984206"/>
            <a:ext cx="797337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1B4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احتفال مضبوط وتوهّج الكأس وعدّ القيمة.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9248775" y="6045994"/>
            <a:ext cx="7800975" cy="3326606"/>
          </a:xfrm>
          <a:prstGeom prst="roundRect">
            <a:avLst>
              <a:gd name="adj" fmla="val 5154"/>
            </a:avLst>
          </a:prstGeom>
          <a:solidFill>
            <a:srgbClr val="1E1C17"/>
          </a:solidFill>
          <a:ln w="9525">
            <a:solidFill>
              <a:srgbClr val="3733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525000" y="6322219"/>
            <a:ext cx="797337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رسم الرسوم البيانية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525000" y="6684169"/>
            <a:ext cx="7973377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500ms · reduced → drawn state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525000" y="6984206"/>
            <a:ext cx="7973377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C9C1B4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الخط يُرسَم تدريجيًا والنقطة تتوسّع عند اللمس.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173926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D843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· COMPONENT LIBRARY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38250" y="1252538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A251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١٤ مكوّنًا قابلًا لإعادة الاستخدام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38250" y="2471738"/>
            <a:ext cx="5156150" cy="2185988"/>
          </a:xfrm>
          <a:prstGeom prst="roundRect">
            <a:avLst>
              <a:gd name="adj" fmla="val 69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457325" y="2690813"/>
            <a:ext cx="5189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A251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Bottom nav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1457325" y="3009900"/>
            <a:ext cx="51898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active · pressed · inactive · badge · offline</a:t>
            </a:r>
            <a:endParaRPr lang="en-US" sz="1125" dirty="0"/>
          </a:p>
        </p:txBody>
      </p:sp>
      <p:sp>
        <p:nvSpPr>
          <p:cNvPr id="7" name="Shape 5"/>
          <p:cNvSpPr/>
          <p:nvPr/>
        </p:nvSpPr>
        <p:spPr>
          <a:xfrm>
            <a:off x="6565850" y="2471738"/>
            <a:ext cx="5156225" cy="2185988"/>
          </a:xfrm>
          <a:prstGeom prst="roundRect">
            <a:avLst>
              <a:gd name="adj" fmla="val 69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784925" y="2690813"/>
            <a:ext cx="51898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A251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Primary button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784925" y="3009900"/>
            <a:ext cx="51898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idle · press · loading · success · error</a:t>
            </a:r>
            <a:endParaRPr lang="en-US" sz="1125" dirty="0"/>
          </a:p>
        </p:txBody>
      </p:sp>
      <p:sp>
        <p:nvSpPr>
          <p:cNvPr id="10" name="Shape 8"/>
          <p:cNvSpPr/>
          <p:nvPr/>
        </p:nvSpPr>
        <p:spPr>
          <a:xfrm>
            <a:off x="11893525" y="2471738"/>
            <a:ext cx="5156150" cy="2185988"/>
          </a:xfrm>
          <a:prstGeom prst="roundRect">
            <a:avLst>
              <a:gd name="adj" fmla="val 69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112600" y="2690813"/>
            <a:ext cx="5189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A251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Metric card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12112600" y="3009900"/>
            <a:ext cx="51898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value · estimate · unavailable</a:t>
            </a:r>
            <a:endParaRPr lang="en-US" sz="1125" dirty="0"/>
          </a:p>
        </p:txBody>
      </p:sp>
      <p:sp>
        <p:nvSpPr>
          <p:cNvPr id="13" name="Shape 11"/>
          <p:cNvSpPr/>
          <p:nvPr/>
        </p:nvSpPr>
        <p:spPr>
          <a:xfrm>
            <a:off x="1238250" y="4829175"/>
            <a:ext cx="5156150" cy="2185988"/>
          </a:xfrm>
          <a:prstGeom prst="roundRect">
            <a:avLst>
              <a:gd name="adj" fmla="val 69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457325" y="5048250"/>
            <a:ext cx="5189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A251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Set-log row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1457325" y="5367338"/>
            <a:ext cx="51898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done · current · upcoming</a:t>
            </a:r>
            <a:endParaRPr lang="en-US" sz="1125" dirty="0"/>
          </a:p>
        </p:txBody>
      </p:sp>
      <p:sp>
        <p:nvSpPr>
          <p:cNvPr id="16" name="Shape 14"/>
          <p:cNvSpPr/>
          <p:nvPr/>
        </p:nvSpPr>
        <p:spPr>
          <a:xfrm>
            <a:off x="6565850" y="4829175"/>
            <a:ext cx="5156225" cy="2185988"/>
          </a:xfrm>
          <a:prstGeom prst="roundRect">
            <a:avLst>
              <a:gd name="adj" fmla="val 69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925" y="5048250"/>
            <a:ext cx="51898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A251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Rest ring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6784925" y="5367338"/>
            <a:ext cx="51898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running · last-3s · complete</a:t>
            </a:r>
            <a:endParaRPr lang="en-US" sz="1125" dirty="0"/>
          </a:p>
        </p:txBody>
      </p:sp>
      <p:sp>
        <p:nvSpPr>
          <p:cNvPr id="19" name="Shape 17"/>
          <p:cNvSpPr/>
          <p:nvPr/>
        </p:nvSpPr>
        <p:spPr>
          <a:xfrm>
            <a:off x="11893525" y="4829175"/>
            <a:ext cx="5156150" cy="2185988"/>
          </a:xfrm>
          <a:prstGeom prst="roundRect">
            <a:avLst>
              <a:gd name="adj" fmla="val 69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112600" y="5048250"/>
            <a:ext cx="5189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A251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Source chip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2112600" y="5367338"/>
            <a:ext cx="51898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health · estimate · manual · self-report · unavailable</a:t>
            </a:r>
            <a:endParaRPr lang="en-US" sz="1125" dirty="0"/>
          </a:p>
        </p:txBody>
      </p:sp>
      <p:sp>
        <p:nvSpPr>
          <p:cNvPr id="22" name="Shape 20"/>
          <p:cNvSpPr/>
          <p:nvPr/>
        </p:nvSpPr>
        <p:spPr>
          <a:xfrm>
            <a:off x="1238250" y="7186613"/>
            <a:ext cx="5156150" cy="2185988"/>
          </a:xfrm>
          <a:prstGeom prst="roundRect">
            <a:avLst>
              <a:gd name="adj" fmla="val 69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57325" y="7405688"/>
            <a:ext cx="5189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A251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Bottom sheet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1457325" y="7724775"/>
            <a:ext cx="51898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peek · full · dismiss</a:t>
            </a:r>
            <a:endParaRPr lang="en-US" sz="1125" dirty="0"/>
          </a:p>
        </p:txBody>
      </p:sp>
      <p:sp>
        <p:nvSpPr>
          <p:cNvPr id="25" name="Shape 23"/>
          <p:cNvSpPr/>
          <p:nvPr/>
        </p:nvSpPr>
        <p:spPr>
          <a:xfrm>
            <a:off x="6565850" y="7186613"/>
            <a:ext cx="5156225" cy="2185988"/>
          </a:xfrm>
          <a:prstGeom prst="roundRect">
            <a:avLst>
              <a:gd name="adj" fmla="val 69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784925" y="7405688"/>
            <a:ext cx="5189882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A251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State block</a:t>
            </a:r>
            <a:endParaRPr lang="en-US" sz="1650" dirty="0"/>
          </a:p>
        </p:txBody>
      </p:sp>
      <p:sp>
        <p:nvSpPr>
          <p:cNvPr id="27" name="Text 25"/>
          <p:cNvSpPr/>
          <p:nvPr/>
        </p:nvSpPr>
        <p:spPr>
          <a:xfrm>
            <a:off x="6784925" y="7724775"/>
            <a:ext cx="5189882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loading · empty · error · offline · denied</a:t>
            </a:r>
            <a:endParaRPr lang="en-US" sz="1125" dirty="0"/>
          </a:p>
        </p:txBody>
      </p:sp>
      <p:sp>
        <p:nvSpPr>
          <p:cNvPr id="28" name="Shape 26"/>
          <p:cNvSpPr/>
          <p:nvPr/>
        </p:nvSpPr>
        <p:spPr>
          <a:xfrm>
            <a:off x="11893525" y="7186613"/>
            <a:ext cx="5156150" cy="2185988"/>
          </a:xfrm>
          <a:prstGeom prst="roundRect">
            <a:avLst>
              <a:gd name="adj" fmla="val 6972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2112600" y="7405688"/>
            <a:ext cx="5189800" cy="3000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2A251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AI bubble · Achievement</a:t>
            </a:r>
            <a:endParaRPr lang="en-US" sz="1650" dirty="0"/>
          </a:p>
        </p:txBody>
      </p:sp>
      <p:sp>
        <p:nvSpPr>
          <p:cNvPr id="30" name="Text 28"/>
          <p:cNvSpPr/>
          <p:nvPr/>
        </p:nvSpPr>
        <p:spPr>
          <a:xfrm>
            <a:off x="12112600" y="7724775"/>
            <a:ext cx="5189800" cy="2190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8A8276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thinking · streaming · done · earned</a:t>
            </a:r>
            <a:endParaRPr lang="en-US" sz="112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173926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F0895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· DATA SOURCE &amp; TRUST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38250" y="1252538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كل رقم له مصدر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38250" y="5460206"/>
            <a:ext cx="7715250" cy="9525"/>
          </a:xfrm>
          <a:prstGeom prst="rect">
            <a:avLst/>
          </a:prstGeom>
          <a:solidFill>
            <a:srgbClr val="37332D"/>
          </a:solidFill>
          <a:ln/>
        </p:spPr>
      </p:sp>
      <p:sp>
        <p:nvSpPr>
          <p:cNvPr id="5" name="Shape 3"/>
          <p:cNvSpPr/>
          <p:nvPr/>
        </p:nvSpPr>
        <p:spPr>
          <a:xfrm>
            <a:off x="1238250" y="5098256"/>
            <a:ext cx="133350" cy="133350"/>
          </a:xfrm>
          <a:prstGeom prst="ellipse">
            <a:avLst/>
          </a:prstGeom>
          <a:solidFill>
            <a:srgbClr val="3FBE74"/>
          </a:solidFill>
          <a:ln/>
        </p:spPr>
      </p:sp>
      <p:sp>
        <p:nvSpPr>
          <p:cNvPr id="6" name="Text 4"/>
          <p:cNvSpPr/>
          <p:nvPr/>
        </p:nvSpPr>
        <p:spPr>
          <a:xfrm>
            <a:off x="1524000" y="5022056"/>
            <a:ext cx="1885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الخطوات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390900" y="5029200"/>
            <a:ext cx="36316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9C1B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Apple Health · المصدر ووقت التحديث ظاهران</a:t>
            </a:r>
            <a:endParaRPr lang="en-US" sz="1425" dirty="0"/>
          </a:p>
        </p:txBody>
      </p:sp>
      <p:sp>
        <p:nvSpPr>
          <p:cNvPr id="8" name="Shape 6"/>
          <p:cNvSpPr/>
          <p:nvPr/>
        </p:nvSpPr>
        <p:spPr>
          <a:xfrm>
            <a:off x="9334500" y="5460206"/>
            <a:ext cx="7715250" cy="9525"/>
          </a:xfrm>
          <a:prstGeom prst="rect">
            <a:avLst/>
          </a:prstGeom>
          <a:solidFill>
            <a:srgbClr val="37332D"/>
          </a:solidFill>
          <a:ln/>
        </p:spPr>
      </p:sp>
      <p:sp>
        <p:nvSpPr>
          <p:cNvPr id="9" name="Shape 7"/>
          <p:cNvSpPr/>
          <p:nvPr/>
        </p:nvSpPr>
        <p:spPr>
          <a:xfrm>
            <a:off x="9334500" y="5098256"/>
            <a:ext cx="133350" cy="133350"/>
          </a:xfrm>
          <a:prstGeom prst="ellipse">
            <a:avLst/>
          </a:prstGeom>
          <a:solidFill>
            <a:srgbClr val="E7B23E"/>
          </a:solidFill>
          <a:ln/>
        </p:spPr>
      </p:sp>
      <p:sp>
        <p:nvSpPr>
          <p:cNvPr id="10" name="Text 8"/>
          <p:cNvSpPr/>
          <p:nvPr/>
        </p:nvSpPr>
        <p:spPr>
          <a:xfrm>
            <a:off x="9620250" y="5022056"/>
            <a:ext cx="1885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السعرات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487150" y="5029200"/>
            <a:ext cx="2501421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9C1B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تقدير محسوب · «تقدير» + ~ دائمًا</a:t>
            </a:r>
            <a:endParaRPr lang="en-US" sz="1425" dirty="0"/>
          </a:p>
        </p:txBody>
      </p:sp>
      <p:sp>
        <p:nvSpPr>
          <p:cNvPr id="12" name="Shape 10"/>
          <p:cNvSpPr/>
          <p:nvPr/>
        </p:nvSpPr>
        <p:spPr>
          <a:xfrm>
            <a:off x="1238250" y="6212681"/>
            <a:ext cx="7715250" cy="9525"/>
          </a:xfrm>
          <a:prstGeom prst="rect">
            <a:avLst/>
          </a:prstGeom>
          <a:solidFill>
            <a:srgbClr val="37332D"/>
          </a:solidFill>
          <a:ln/>
        </p:spPr>
      </p:sp>
      <p:sp>
        <p:nvSpPr>
          <p:cNvPr id="13" name="Shape 11"/>
          <p:cNvSpPr/>
          <p:nvPr/>
        </p:nvSpPr>
        <p:spPr>
          <a:xfrm>
            <a:off x="1238250" y="5850731"/>
            <a:ext cx="133350" cy="133350"/>
          </a:xfrm>
          <a:prstGeom prst="ellipse">
            <a:avLst/>
          </a:prstGeom>
          <a:solidFill>
            <a:srgbClr val="8FB4F0"/>
          </a:solidFill>
          <a:ln/>
        </p:spPr>
      </p:sp>
      <p:sp>
        <p:nvSpPr>
          <p:cNvPr id="14" name="Text 12"/>
          <p:cNvSpPr/>
          <p:nvPr/>
        </p:nvSpPr>
        <p:spPr>
          <a:xfrm>
            <a:off x="1524000" y="5774531"/>
            <a:ext cx="1885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الوزن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390900" y="5781675"/>
            <a:ext cx="233427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9C1B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يدوي / Health · مُعلَّم بالمصدر</a:t>
            </a:r>
            <a:endParaRPr lang="en-US" sz="1425" dirty="0"/>
          </a:p>
        </p:txBody>
      </p:sp>
      <p:sp>
        <p:nvSpPr>
          <p:cNvPr id="16" name="Shape 14"/>
          <p:cNvSpPr/>
          <p:nvPr/>
        </p:nvSpPr>
        <p:spPr>
          <a:xfrm>
            <a:off x="9334500" y="6212681"/>
            <a:ext cx="7715250" cy="9525"/>
          </a:xfrm>
          <a:prstGeom prst="rect">
            <a:avLst/>
          </a:prstGeom>
          <a:solidFill>
            <a:srgbClr val="37332D"/>
          </a:solidFill>
          <a:ln/>
        </p:spPr>
      </p:sp>
      <p:sp>
        <p:nvSpPr>
          <p:cNvPr id="17" name="Shape 15"/>
          <p:cNvSpPr/>
          <p:nvPr/>
        </p:nvSpPr>
        <p:spPr>
          <a:xfrm>
            <a:off x="9334500" y="5850731"/>
            <a:ext cx="133350" cy="133350"/>
          </a:xfrm>
          <a:prstGeom prst="ellipse">
            <a:avLst/>
          </a:prstGeom>
          <a:solidFill>
            <a:srgbClr val="7FD4D8"/>
          </a:solidFill>
          <a:ln/>
        </p:spPr>
      </p:sp>
      <p:sp>
        <p:nvSpPr>
          <p:cNvPr id="18" name="Text 16"/>
          <p:cNvSpPr/>
          <p:nvPr/>
        </p:nvSpPr>
        <p:spPr>
          <a:xfrm>
            <a:off x="9620250" y="5774531"/>
            <a:ext cx="1885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التعافي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87150" y="5781675"/>
            <a:ext cx="235490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9C1B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تقييم ذاتي · «مبني على تقييمك»</a:t>
            </a:r>
            <a:endParaRPr lang="en-US" sz="1425" dirty="0"/>
          </a:p>
        </p:txBody>
      </p:sp>
      <p:sp>
        <p:nvSpPr>
          <p:cNvPr id="20" name="Shape 18"/>
          <p:cNvSpPr/>
          <p:nvPr/>
        </p:nvSpPr>
        <p:spPr>
          <a:xfrm>
            <a:off x="1238250" y="6965156"/>
            <a:ext cx="7715250" cy="9525"/>
          </a:xfrm>
          <a:prstGeom prst="rect">
            <a:avLst/>
          </a:prstGeom>
          <a:solidFill>
            <a:srgbClr val="37332D"/>
          </a:solidFill>
          <a:ln/>
        </p:spPr>
      </p:sp>
      <p:sp>
        <p:nvSpPr>
          <p:cNvPr id="21" name="Shape 19"/>
          <p:cNvSpPr/>
          <p:nvPr/>
        </p:nvSpPr>
        <p:spPr>
          <a:xfrm>
            <a:off x="1238250" y="6603206"/>
            <a:ext cx="133350" cy="133350"/>
          </a:xfrm>
          <a:prstGeom prst="ellipse">
            <a:avLst/>
          </a:prstGeom>
          <a:solidFill>
            <a:srgbClr val="F0857A"/>
          </a:solidFill>
          <a:ln/>
        </p:spPr>
      </p:sp>
      <p:sp>
        <p:nvSpPr>
          <p:cNvPr id="22" name="Text 20"/>
          <p:cNvSpPr/>
          <p:nvPr/>
        </p:nvSpPr>
        <p:spPr>
          <a:xfrm>
            <a:off x="1524000" y="6527006"/>
            <a:ext cx="1885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معدّل القلب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390900" y="6534150"/>
            <a:ext cx="237061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9C1B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ساعة أو «غير متوفّر» — لا اختلاق</a:t>
            </a:r>
            <a:endParaRPr lang="en-US" sz="1425" dirty="0"/>
          </a:p>
        </p:txBody>
      </p:sp>
      <p:sp>
        <p:nvSpPr>
          <p:cNvPr id="24" name="Shape 22"/>
          <p:cNvSpPr/>
          <p:nvPr/>
        </p:nvSpPr>
        <p:spPr>
          <a:xfrm>
            <a:off x="9334500" y="6965156"/>
            <a:ext cx="7715250" cy="9525"/>
          </a:xfrm>
          <a:prstGeom prst="rect">
            <a:avLst/>
          </a:prstGeom>
          <a:solidFill>
            <a:srgbClr val="37332D"/>
          </a:solidFill>
          <a:ln/>
        </p:spPr>
      </p:sp>
      <p:sp>
        <p:nvSpPr>
          <p:cNvPr id="25" name="Shape 23"/>
          <p:cNvSpPr/>
          <p:nvPr/>
        </p:nvSpPr>
        <p:spPr>
          <a:xfrm>
            <a:off x="9334500" y="6603206"/>
            <a:ext cx="133350" cy="133350"/>
          </a:xfrm>
          <a:prstGeom prst="ellipse">
            <a:avLst/>
          </a:prstGeom>
          <a:solidFill>
            <a:srgbClr val="3FBE74"/>
          </a:solidFill>
          <a:ln/>
        </p:spPr>
      </p:sp>
      <p:sp>
        <p:nvSpPr>
          <p:cNvPr id="26" name="Text 24"/>
          <p:cNvSpPr/>
          <p:nvPr/>
        </p:nvSpPr>
        <p:spPr>
          <a:xfrm>
            <a:off x="9620250" y="6527006"/>
            <a:ext cx="1885950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الأرقام القياسية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1487150" y="6534150"/>
            <a:ext cx="132728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C9C1B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من سجلّ تمارينك</a:t>
            </a:r>
            <a:endParaRPr lang="en-US" sz="142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FEA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38250" y="914400"/>
            <a:ext cx="17392650" cy="242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spc="192" kern="0" dirty="0">
                <a:solidFill>
                  <a:srgbClr val="D8431F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APPENDIX · ACCESSIBILITY &amp; RESPONSIVE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1238250" y="1252538"/>
            <a:ext cx="17392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2A251E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للجميع، على كل المقاسات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1238250" y="2509838"/>
            <a:ext cx="7781925" cy="6862763"/>
          </a:xfrm>
          <a:prstGeom prst="roundRect">
            <a:avLst>
              <a:gd name="adj" fmla="val 3053"/>
            </a:avLst>
          </a:prstGeom>
          <a:solidFill>
            <a:srgbClr val="16140F"/>
          </a:solidFill>
          <a:ln/>
        </p:spPr>
      </p:sp>
      <p:sp>
        <p:nvSpPr>
          <p:cNvPr id="5" name="Text 3"/>
          <p:cNvSpPr/>
          <p:nvPr/>
        </p:nvSpPr>
        <p:spPr>
          <a:xfrm>
            <a:off x="1581150" y="2852738"/>
            <a:ext cx="780573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2EEE8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Accessibility</a:t>
            </a:r>
            <a:endParaRPr lang="en-US" sz="2250" dirty="0"/>
          </a:p>
        </p:txBody>
      </p:sp>
      <p:sp>
        <p:nvSpPr>
          <p:cNvPr id="6" name="Text 4"/>
          <p:cNvSpPr/>
          <p:nvPr/>
        </p:nvSpPr>
        <p:spPr>
          <a:xfrm>
            <a:off x="1581150" y="3400425"/>
            <a:ext cx="78057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8CFC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VoiceOver لكل عنصر · Dynamic Type</a:t>
            </a:r>
            <a:endParaRPr lang="en-US" sz="1575" dirty="0"/>
          </a:p>
        </p:txBody>
      </p:sp>
      <p:sp>
        <p:nvSpPr>
          <p:cNvPr id="7" name="Text 5"/>
          <p:cNvSpPr/>
          <p:nvPr/>
        </p:nvSpPr>
        <p:spPr>
          <a:xfrm>
            <a:off x="1581150" y="3833812"/>
            <a:ext cx="78057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8CFC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أهداف لمس ≥ ٤٤ نقطة</a:t>
            </a:r>
            <a:endParaRPr lang="en-US" sz="1575" dirty="0"/>
          </a:p>
        </p:txBody>
      </p:sp>
      <p:sp>
        <p:nvSpPr>
          <p:cNvPr id="8" name="Text 6"/>
          <p:cNvSpPr/>
          <p:nvPr/>
        </p:nvSpPr>
        <p:spPr>
          <a:xfrm>
            <a:off x="1581150" y="4267200"/>
            <a:ext cx="78057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8CFC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حركة مخفَّضة وتباين عالٍ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1581150" y="4700588"/>
            <a:ext cx="78057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8CFC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الحالة لا تُنقَل باللون وحده — أيقونة + نص</a:t>
            </a:r>
            <a:endParaRPr lang="en-US" sz="1575" dirty="0"/>
          </a:p>
        </p:txBody>
      </p:sp>
      <p:sp>
        <p:nvSpPr>
          <p:cNvPr id="10" name="Text 8"/>
          <p:cNvSpPr/>
          <p:nvPr/>
        </p:nvSpPr>
        <p:spPr>
          <a:xfrm>
            <a:off x="1581150" y="5133975"/>
            <a:ext cx="7805738" cy="3381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75" dirty="0">
                <a:solidFill>
                  <a:srgbClr val="D8CFC3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لكل أمر صوتي مقابل زرّي مرئي</a:t>
            </a:r>
            <a:endParaRPr lang="en-US" sz="1575" dirty="0"/>
          </a:p>
        </p:txBody>
      </p:sp>
      <p:sp>
        <p:nvSpPr>
          <p:cNvPr id="11" name="Shape 9"/>
          <p:cNvSpPr/>
          <p:nvPr/>
        </p:nvSpPr>
        <p:spPr>
          <a:xfrm>
            <a:off x="9267825" y="2509838"/>
            <a:ext cx="7781925" cy="6862763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9525">
            <a:solidFill>
              <a:srgbClr val="E4DED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20250" y="2862263"/>
            <a:ext cx="7784783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2A251E"/>
                </a:solidFill>
                <a:latin typeface="Readex Pro" pitchFamily="34" charset="0"/>
                <a:ea typeface="Readex Pro" pitchFamily="34" charset="-122"/>
                <a:cs typeface="Readex Pro" pitchFamily="34" charset="-120"/>
              </a:rPr>
              <a:t>Responsive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9620250" y="3409950"/>
            <a:ext cx="11239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320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0801350" y="3409950"/>
            <a:ext cx="250764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A342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عمود واحد · لا شيء تحت ٤٤ نقطة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9620250" y="3833812"/>
            <a:ext cx="11239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393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801350" y="3833812"/>
            <a:ext cx="266046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A342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المصدر الأساسي — كل الشاشات هنا</a:t>
            </a:r>
            <a:endParaRPr lang="en-US" sz="1425" dirty="0"/>
          </a:p>
        </p:txBody>
      </p:sp>
      <p:sp>
        <p:nvSpPr>
          <p:cNvPr id="17" name="Text 15"/>
          <p:cNvSpPr/>
          <p:nvPr/>
        </p:nvSpPr>
        <p:spPr>
          <a:xfrm>
            <a:off x="9620250" y="4257675"/>
            <a:ext cx="11239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768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801350" y="4257675"/>
            <a:ext cx="2384532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A342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محتوى موسَّط · بطاقات مزدوجة</a:t>
            </a:r>
            <a:endParaRPr lang="en-US" sz="1425" dirty="0"/>
          </a:p>
        </p:txBody>
      </p:sp>
      <p:sp>
        <p:nvSpPr>
          <p:cNvPr id="19" name="Text 17"/>
          <p:cNvSpPr/>
          <p:nvPr/>
        </p:nvSpPr>
        <p:spPr>
          <a:xfrm>
            <a:off x="9620250" y="4681538"/>
            <a:ext cx="1123950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0512A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1280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0801350" y="4681538"/>
            <a:ext cx="2823686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dirty="0">
                <a:solidFill>
                  <a:srgbClr val="3A342C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قشرة تطبيق موسَّطة على حقل غرافيت</a:t>
            </a:r>
            <a:endParaRPr lang="en-US" sz="142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614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0512A">
                  <a:alpha val="28000"/>
                </a:srgbClr>
              </a:gs>
              <a:gs pos="52000">
                <a:srgbClr val="F0512A">
                  <a:alpha val="0"/>
                </a:srgbClr>
              </a:gs>
            </a:gsLst>
            <a:path path="circle">
              <a:fillToRect l="84000" t="96000" r="16000" b="4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238250" y="3411438"/>
            <a:ext cx="571500" cy="571500"/>
          </a:xfrm>
          <a:prstGeom prst="roundRect">
            <a:avLst>
              <a:gd name="adj" fmla="val 30000"/>
            </a:avLst>
          </a:prstGeom>
          <a:gradFill rotWithShape="1">
            <a:gsLst>
              <a:gs pos="0">
                <a:srgbClr val="FF6A3D">
                  <a:alpha val="100000"/>
                </a:srgbClr>
              </a:gs>
              <a:gs pos="100000">
                <a:srgbClr val="E0431C">
                  <a:alpha val="100000"/>
                </a:srgbClr>
              </a:gs>
            </a:gsLst>
            <a:lin ang="3600000" scaled="0"/>
          </a:gra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62075" y="3535263"/>
            <a:ext cx="323850" cy="3238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8250" y="4325838"/>
            <a:ext cx="17392650" cy="7581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70000"/>
              </a:lnSpc>
              <a:buNone/>
            </a:pPr>
            <a:r>
              <a:rPr lang="en-US" sz="5400" b="1" dirty="0">
                <a:solidFill>
                  <a:srgbClr val="F2EEE8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جاهز للتنفيذ</a:t>
            </a:r>
            <a:endParaRPr lang="en-US" sz="5400" dirty="0"/>
          </a:p>
        </p:txBody>
      </p:sp>
      <p:sp>
        <p:nvSpPr>
          <p:cNvPr id="6" name="Text 3"/>
          <p:cNvSpPr/>
          <p:nvPr/>
        </p:nvSpPr>
        <p:spPr>
          <a:xfrm>
            <a:off x="1238250" y="5274469"/>
            <a:ext cx="11537442" cy="89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667"/>
              </a:lnSpc>
              <a:buNone/>
            </a:pPr>
            <a:r>
              <a:rPr lang="en-US" sz="2100" dirty="0">
                <a:solidFill>
                  <a:srgbClr val="C9C1B4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مراجعة المالك لكل منطقة، ثم التسليم للتطوير مع تصدير التوكنز وقائمة القبول — لا رقم بلا مصدر، لا تقدير بلا وسم، ولا تغيير بلا تأكيد.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1238250" y="6661249"/>
            <a:ext cx="17392650" cy="2524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75" dirty="0">
                <a:solidFill>
                  <a:srgbClr val="8A8276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Qimmah Design Standard v3.0 · 80 screens · 12 areas · Arabic-first</a:t>
            </a:r>
            <a:endParaRPr lang="en-US" sz="12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2026-07-19T03:45:16Z</dcterms:created>
  <dcterms:modified xsi:type="dcterms:W3CDTF">2026-07-19T03:45:16Z</dcterms:modified>
</cp:coreProperties>
</file>